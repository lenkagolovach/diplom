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9144000" cy="6858000"/>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Верхний колонтитул 1"/>
          <p:cNvSpPr>
            <a:spLocks noGrp="1"/>
          </p:cNvSpPr>
          <p:nvPr>
            <p:ph type="hdr" sz="quarter"/>
          </p:nvPr>
        </p:nvSpPr>
        <p:spPr bwMode="auto">
          <a:xfrm>
            <a:off x="0" y="0"/>
            <a:ext cx="2971800" cy="457200"/>
          </a:xfrm>
          <a:prstGeom prst="rect">
            <a:avLst/>
          </a:prstGeom>
        </p:spPr>
        <p:txBody>
          <a:bodyPr vert="horz" lIns="91440" tIns="45720" rIns="91440" bIns="45720" rtlCol="0"/>
          <a:lstStyle>
            <a:lvl1pPr algn="l">
              <a:defRPr sz="1200"/>
            </a:lvl1pPr>
          </a:lstStyle>
          <a:p>
            <a:pPr>
              <a:defRPr/>
            </a:pPr>
            <a:endParaRPr lang="ru-RU"/>
          </a:p>
        </p:txBody>
      </p:sp>
      <p:sp>
        <p:nvSpPr>
          <p:cNvPr id="3" name="Дата 2"/>
          <p:cNvSpPr>
            <a:spLocks noGrp="1"/>
          </p:cNvSpPr>
          <p:nvPr>
            <p:ph type="dt" idx="1"/>
          </p:nvPr>
        </p:nvSpPr>
        <p:spPr bwMode="auto">
          <a:xfrm>
            <a:off x="3884613" y="0"/>
            <a:ext cx="2971800" cy="457200"/>
          </a:xfrm>
          <a:prstGeom prst="rect">
            <a:avLst/>
          </a:prstGeom>
        </p:spPr>
        <p:txBody>
          <a:bodyPr vert="horz" lIns="91440" tIns="45720" rIns="91440" bIns="45720" rtlCol="0"/>
          <a:lstStyle>
            <a:lvl1pPr algn="r">
              <a:defRPr sz="1200"/>
            </a:lvl1pPr>
          </a:lstStyle>
          <a:p>
            <a:pPr>
              <a:defRPr/>
            </a:pPr>
            <a:fld id="{912D02DF-B7FA-4BC1-8520-CDF546209CF8}" type="datetimeFigureOut">
              <a:rPr lang="ru-RU"/>
              <a:t>21.02.2024</a:t>
            </a:fld>
            <a:endParaRPr lang="ru-RU"/>
          </a:p>
        </p:txBody>
      </p:sp>
      <p:sp>
        <p:nvSpPr>
          <p:cNvPr id="4" name="Образ слайда 3"/>
          <p:cNvSpPr>
            <a:spLocks noGrp="1" noRot="1" noChangeAspect="1"/>
          </p:cNvSpPr>
          <p:nvPr>
            <p:ph type="sldImg" idx="2"/>
          </p:nvPr>
        </p:nvSpPr>
        <p:spPr bwMode="auto">
          <a:xfrm>
            <a:off x="1143000" y="685800"/>
            <a:ext cx="4572000" cy="3429000"/>
          </a:xfrm>
          <a:prstGeom prst="rect">
            <a:avLst/>
          </a:prstGeom>
          <a:noFill/>
          <a:ln w="12700">
            <a:solidFill>
              <a:prstClr val="black"/>
            </a:solidFill>
          </a:ln>
        </p:spPr>
        <p:txBody>
          <a:bodyPr vert="horz" lIns="91440" tIns="45720" rIns="91440" bIns="45720" rtlCol="0" anchor="ctr"/>
          <a:lstStyle/>
          <a:p>
            <a:pPr>
              <a:defRPr/>
            </a:pPr>
            <a:endParaRPr lang="ru-RU"/>
          </a:p>
        </p:txBody>
      </p:sp>
      <p:sp>
        <p:nvSpPr>
          <p:cNvPr id="5" name="Заметки 4"/>
          <p:cNvSpPr>
            <a:spLocks noGrp="1"/>
          </p:cNvSpPr>
          <p:nvPr>
            <p:ph type="body" sz="quarter" idx="3"/>
          </p:nvPr>
        </p:nvSpPr>
        <p:spPr bwMode="auto">
          <a:xfrm>
            <a:off x="685800" y="4343400"/>
            <a:ext cx="5486400" cy="4114800"/>
          </a:xfrm>
          <a:prstGeom prst="rect">
            <a:avLst/>
          </a:prstGeom>
        </p:spPr>
        <p:txBody>
          <a:bodyPr vert="horz" lIns="91440" tIns="45720" rIns="91440" bIns="45720" rtlCol="0"/>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p>
        </p:txBody>
      </p:sp>
      <p:sp>
        <p:nvSpPr>
          <p:cNvPr id="6" name="Нижний колонтитул 5"/>
          <p:cNvSpPr>
            <a:spLocks noGrp="1"/>
          </p:cNvSpPr>
          <p:nvPr>
            <p:ph type="ftr" sz="quarter" idx="4"/>
          </p:nvPr>
        </p:nvSpPr>
        <p:spPr bwMode="auto">
          <a:xfrm>
            <a:off x="0" y="8685213"/>
            <a:ext cx="2971800" cy="457200"/>
          </a:xfrm>
          <a:prstGeom prst="rect">
            <a:avLst/>
          </a:prstGeom>
        </p:spPr>
        <p:txBody>
          <a:bodyPr vert="horz" lIns="91440" tIns="45720" rIns="91440" bIns="45720" rtlCol="0" anchor="b"/>
          <a:lstStyle>
            <a:lvl1pPr algn="l">
              <a:defRPr sz="1200"/>
            </a:lvl1pPr>
          </a:lstStyle>
          <a:p>
            <a:pPr>
              <a:defRPr/>
            </a:pPr>
            <a:endParaRPr lang="ru-RU"/>
          </a:p>
        </p:txBody>
      </p:sp>
      <p:sp>
        <p:nvSpPr>
          <p:cNvPr id="7" name="Номер слайда 6"/>
          <p:cNvSpPr>
            <a:spLocks noGrp="1"/>
          </p:cNvSpPr>
          <p:nvPr>
            <p:ph type="sldNum" sz="quarter" idx="5"/>
          </p:nvPr>
        </p:nvSpPr>
        <p:spPr bwMode="auto">
          <a:xfrm>
            <a:off x="3884613" y="8685213"/>
            <a:ext cx="2971800" cy="457200"/>
          </a:xfrm>
          <a:prstGeom prst="rect">
            <a:avLst/>
          </a:prstGeom>
        </p:spPr>
        <p:txBody>
          <a:bodyPr vert="horz" lIns="91440" tIns="45720" rIns="91440" bIns="45720" rtlCol="0" anchor="b"/>
          <a:lstStyle>
            <a:lvl1pPr algn="r">
              <a:defRPr sz="1200"/>
            </a:lvl1pPr>
          </a:lstStyle>
          <a:p>
            <a:pPr>
              <a:defRPr/>
            </a:pPr>
            <a:fld id="{3370AAC8-68B7-405B-A682-D1F706DDB456}" type="slidenum">
              <a:rPr lang="ru-RU"/>
              <a:t>‹#›</a:t>
            </a:fld>
            <a:endParaRPr lang="ru-RU"/>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b="1" i="1"/>
              <a:t>Можете ли вы дать определение термину реальное время?</a:t>
            </a:r>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1</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b="1" i="1"/>
              <a:t>Рассмотрим обобщенную систему, состоящую из 4 элементов.  Все элементы не равно-надежны. По расчету надежность системы оценивается величиной  Р = 0,75 . Необходимо повысить надежность системы до Р = 0,95. </a:t>
            </a:r>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2</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sz="1200" b="0" i="0" u="none" strike="noStrike">
                <a:solidFill>
                  <a:schemeClr val="tx1"/>
                </a:solidFill>
                <a:latin typeface="+mn-lt"/>
                <a:ea typeface="+mn-ea"/>
                <a:cs typeface="+mn-cs"/>
              </a:rPr>
              <a:t>Таким образом , перечисленные методы повышения надежности не являются обязатель-ными для любой аппаратуры. Одни методы могут быть использованы для повышения надеж-ности аппаратуры одного класса, другие – другого. Все зависит от типа аппаратуры и условий ее эксплуатации. </a:t>
            </a:r>
            <a:endParaRPr/>
          </a:p>
          <a:p>
            <a:pPr>
              <a:defRPr/>
            </a:pPr>
            <a:r>
              <a:rPr lang="ru-RU" sz="1200" b="0" i="0" u="none" strike="noStrike">
                <a:solidFill>
                  <a:schemeClr val="tx1"/>
                </a:solidFill>
                <a:latin typeface="+mn-lt"/>
                <a:ea typeface="+mn-ea"/>
                <a:cs typeface="+mn-cs"/>
              </a:rPr>
              <a:t>Для уяснения целесообразности применения того или  иного способа, его эффективно-сти, достоинств и недостатков рассмотрим более подробно основные   из перечисленных ме-тодов.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7</a:t>
            </a:fld>
            <a:endParaRPr 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sz="1200" b="0" i="0" u="none" strike="noStrike">
                <a:solidFill>
                  <a:schemeClr val="tx1"/>
                </a:solidFill>
                <a:latin typeface="+mn-lt"/>
                <a:ea typeface="+mn-ea"/>
                <a:cs typeface="+mn-cs"/>
              </a:rPr>
              <a:t>Где Q – вероятность отказа резервированной системы; </a:t>
            </a:r>
            <a:endParaRPr/>
          </a:p>
          <a:p>
            <a:pPr>
              <a:defRPr/>
            </a:pPr>
            <a:r>
              <a:rPr lang="ru-RU" sz="1200" b="0" i="0" u="none" strike="noStrike">
                <a:solidFill>
                  <a:schemeClr val="tx1"/>
                </a:solidFill>
                <a:latin typeface="+mn-lt"/>
                <a:ea typeface="+mn-ea"/>
                <a:cs typeface="+mn-cs"/>
              </a:rPr>
              <a:t>Q0 - вероятность отказа нерезервированной системы.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9</a:t>
            </a:fld>
            <a:endParaRPr 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sz="1200" b="0" i="0" u="none" strike="noStrike">
                <a:solidFill>
                  <a:schemeClr val="tx1"/>
                </a:solidFill>
                <a:latin typeface="+mn-lt"/>
                <a:ea typeface="+mn-ea"/>
                <a:cs typeface="+mn-cs"/>
              </a:rPr>
              <a:t>На рисунке 7.1 и 7.2 показаны зависимости выигрыша надежности при различных кратностях и способах резервирования. Сплошной линией показаны кривые для случая резервирования с целой кратностью, пунктиром – резервирование с дробной кратностью. </a:t>
            </a:r>
            <a:endParaRPr/>
          </a:p>
          <a:p>
            <a:pPr>
              <a:defRPr/>
            </a:pPr>
            <a:r>
              <a:rPr lang="ru-RU" sz="1200" b="0" i="0" u="none" strike="noStrike">
                <a:solidFill>
                  <a:schemeClr val="tx1"/>
                </a:solidFill>
                <a:latin typeface="+mn-lt"/>
                <a:ea typeface="+mn-ea"/>
                <a:cs typeface="+mn-cs"/>
              </a:rPr>
              <a:t>Для резервированных систем характерны следующие свойства: </a:t>
            </a:r>
            <a:endParaRPr/>
          </a:p>
          <a:p>
            <a:pPr>
              <a:defRPr/>
            </a:pPr>
            <a:r>
              <a:rPr lang="ru-RU" sz="1200" b="0" i="0" u="none" strike="noStrike">
                <a:solidFill>
                  <a:schemeClr val="tx1"/>
                </a:solidFill>
                <a:latin typeface="+mn-lt"/>
                <a:ea typeface="+mn-ea"/>
                <a:cs typeface="+mn-cs"/>
              </a:rPr>
              <a:t>1. При резервировании с дробной кратностью интенсивность отказов резервированной системы при определенных значениях m и t может быть больше интенсивности отка-зов нерезервированной системы. Это означает, что система, у которой применено ре-зервирование с дробной кратностью, может быть менее надежной, чем нерезервиро-ванная. </a:t>
            </a:r>
            <a:endParaRPr/>
          </a:p>
          <a:p>
            <a:pPr>
              <a:defRPr/>
            </a:pPr>
            <a:endParaRPr lang="ru-RU" sz="1200" b="0" i="0" u="none" strike="noStrike">
              <a:solidFill>
                <a:schemeClr val="tx1"/>
              </a:solidFill>
              <a:latin typeface="+mn-lt"/>
              <a:ea typeface="+mn-ea"/>
              <a:cs typeface="+mn-cs"/>
            </a:endParaRPr>
          </a:p>
          <a:p>
            <a:pPr>
              <a:defRPr/>
            </a:pPr>
            <a:r>
              <a:rPr lang="ru-RU" sz="1200" b="0" i="0" u="none" strike="noStrike">
                <a:solidFill>
                  <a:schemeClr val="tx1"/>
                </a:solidFill>
                <a:latin typeface="+mn-lt"/>
                <a:ea typeface="+mn-ea"/>
                <a:cs typeface="+mn-cs"/>
              </a:rPr>
              <a:t>2. Выигрыш надежности по вероятности отказа тем больше, чем меньше интенсивность отказов нерезервированной системы, т.е. чем более надежная система резервируется. Это основное противоречие всякого резервирования. Т.е. для повышения надежности системы необходима высокая кратность резервирования. </a:t>
            </a:r>
            <a:endParaRPr/>
          </a:p>
          <a:p>
            <a:pPr>
              <a:defRPr/>
            </a:pPr>
            <a:endParaRPr lang="ru-RU" sz="1200" b="0" i="0" u="none" strike="noStrike">
              <a:solidFill>
                <a:schemeClr val="tx1"/>
              </a:solidFill>
              <a:latin typeface="+mn-lt"/>
              <a:ea typeface="+mn-ea"/>
              <a:cs typeface="+mn-cs"/>
            </a:endParaRPr>
          </a:p>
          <a:p>
            <a:pPr>
              <a:defRPr/>
            </a:pPr>
            <a:r>
              <a:rPr lang="ru-RU" sz="1200" b="0" i="0" u="none" strike="noStrike">
                <a:solidFill>
                  <a:schemeClr val="tx1"/>
                </a:solidFill>
                <a:latin typeface="+mn-lt"/>
                <a:ea typeface="+mn-ea"/>
                <a:cs typeface="+mn-cs"/>
              </a:rPr>
              <a:t>3. Значительное увеличение массы системы при резервировании приводит к менее значительному увеличению средней наработки до отказа. </a:t>
            </a:r>
            <a:endParaRPr/>
          </a:p>
          <a:p>
            <a:pPr>
              <a:defRPr/>
            </a:pPr>
            <a:endParaRPr lang="ru-RU"/>
          </a:p>
          <a:p>
            <a:pPr>
              <a:defRPr/>
            </a:pPr>
            <a:endParaRPr lang="ru-RU"/>
          </a:p>
          <a:p>
            <a:pPr>
              <a:defRPr/>
            </a:pPr>
            <a:endParaRPr lang="ru-RU"/>
          </a:p>
          <a:p>
            <a:pPr>
              <a:defRPr/>
            </a:pPr>
            <a:endParaRPr lang="ru-RU"/>
          </a:p>
          <a:p>
            <a:pPr>
              <a:defRPr/>
            </a:pP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10</a:t>
            </a:fld>
            <a:endParaRPr 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sz="1200" b="0" i="0" u="none" strike="noStrike">
                <a:solidFill>
                  <a:schemeClr val="tx1"/>
                </a:solidFill>
                <a:latin typeface="+mn-lt"/>
                <a:ea typeface="+mn-ea"/>
                <a:cs typeface="+mn-cs"/>
              </a:rPr>
              <a:t>Зависимости выигрыша надежности при различных k приведены на рисунке 7.4, из ко-торых видно, что при малых Λ0t выигрыш надежности по средней наработке растет пропорционально k.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12</a:t>
            </a:fld>
            <a:endParaRPr 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sz="1200" b="0" i="0" u="none" strike="noStrike">
                <a:solidFill>
                  <a:schemeClr val="tx1"/>
                </a:solidFill>
                <a:latin typeface="+mn-lt"/>
                <a:ea typeface="+mn-ea"/>
                <a:cs typeface="+mn-cs"/>
              </a:rPr>
              <a:t>где </a:t>
            </a:r>
            <a:r>
              <a:rPr lang="ru-RU" sz="1200" b="0" i="1" u="none" strike="noStrike">
                <a:solidFill>
                  <a:schemeClr val="tx1"/>
                </a:solidFill>
                <a:latin typeface="+mn-lt"/>
                <a:ea typeface="+mn-ea"/>
                <a:cs typeface="+mn-cs"/>
              </a:rPr>
              <a:t>n</a:t>
            </a:r>
            <a:r>
              <a:rPr lang="ru-RU" sz="1200" b="0" i="0" u="none" strike="noStrike">
                <a:solidFill>
                  <a:schemeClr val="tx1"/>
                </a:solidFill>
                <a:latin typeface="+mn-lt"/>
                <a:ea typeface="+mn-ea"/>
                <a:cs typeface="+mn-cs"/>
              </a:rPr>
              <a:t>– число отказов, </a:t>
            </a:r>
            <a:r>
              <a:rPr lang="ru-RU" sz="1200" b="0" i="1" u="none" strike="noStrike">
                <a:solidFill>
                  <a:schemeClr val="tx1"/>
                </a:solidFill>
                <a:latin typeface="+mn-lt"/>
                <a:ea typeface="+mn-ea"/>
                <a:cs typeface="+mn-cs"/>
              </a:rPr>
              <a:t>ti</a:t>
            </a:r>
            <a:r>
              <a:rPr lang="ru-RU" sz="1200" b="0" i="0" u="none" strike="noStrike">
                <a:solidFill>
                  <a:schemeClr val="tx1"/>
                </a:solidFill>
                <a:latin typeface="+mn-lt"/>
                <a:ea typeface="+mn-ea"/>
                <a:cs typeface="+mn-cs"/>
              </a:rPr>
              <a:t>– наработка от окончания (</a:t>
            </a:r>
            <a:r>
              <a:rPr lang="ru-RU" sz="1200" b="0" i="1" u="none" strike="noStrike">
                <a:solidFill>
                  <a:schemeClr val="tx1"/>
                </a:solidFill>
                <a:latin typeface="+mn-lt"/>
                <a:ea typeface="+mn-ea"/>
                <a:cs typeface="+mn-cs"/>
              </a:rPr>
              <a:t>i</a:t>
            </a:r>
            <a:r>
              <a:rPr lang="ru-RU" sz="1200" b="0" i="0" u="none" strike="noStrike">
                <a:solidFill>
                  <a:schemeClr val="tx1"/>
                </a:solidFill>
                <a:latin typeface="+mn-lt"/>
                <a:ea typeface="+mn-ea"/>
                <a:cs typeface="+mn-cs"/>
              </a:rPr>
              <a:t>–1)-го восстановления до </a:t>
            </a:r>
            <a:r>
              <a:rPr lang="ru-RU" sz="1200" b="0" i="1" u="none" strike="noStrike">
                <a:solidFill>
                  <a:schemeClr val="tx1"/>
                </a:solidFill>
                <a:latin typeface="+mn-lt"/>
                <a:ea typeface="+mn-ea"/>
                <a:cs typeface="+mn-cs"/>
              </a:rPr>
              <a:t>i</a:t>
            </a:r>
            <a:r>
              <a:rPr lang="ru-RU" sz="1200" b="0" i="0" u="none" strike="noStrike">
                <a:solidFill>
                  <a:schemeClr val="tx1"/>
                </a:solidFill>
                <a:latin typeface="+mn-lt"/>
                <a:ea typeface="+mn-ea"/>
                <a:cs typeface="+mn-cs"/>
              </a:rPr>
              <a:t>-го отказа: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14</a:t>
            </a:fld>
            <a:endParaRPr 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sz="1200" b="0" i="0" u="none" strike="noStrike">
                <a:solidFill>
                  <a:schemeClr val="tx1"/>
                </a:solidFill>
                <a:latin typeface="+mn-lt"/>
                <a:ea typeface="+mn-ea"/>
                <a:cs typeface="+mn-cs"/>
              </a:rPr>
              <a:t>Где k – коэффициент, показывающий во сколько раз время работы второй системы меньше, чем первой.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15</a:t>
            </a:fld>
            <a:endParaRPr lang="ru-R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a:t>А – резервированная система, Б – нерезервированная система</a:t>
            </a:r>
            <a:endParaRPr/>
          </a:p>
          <a:p>
            <a:pPr>
              <a:defRPr/>
            </a:pPr>
            <a:endParaRPr lang="ru-RU"/>
          </a:p>
          <a:p>
            <a:pPr>
              <a:defRPr/>
            </a:pPr>
            <a:r>
              <a:rPr lang="ru-RU"/>
              <a:t>При большом значении времени t = t2 – выигрыш очень мал. При уменьшении времени в 2 раза t = t1 значение P1 (t) в два раза больше P2 (t), значит и выигрыш больше.</a:t>
            </a:r>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17</a:t>
            </a:fld>
            <a:endParaRPr lang="ru-R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a:t>При проведении профилактических работ (ТО) кривая P(t)  приобретает «пилообразный» вид (рис. 7.7). </a:t>
            </a:r>
            <a:endParaRPr/>
          </a:p>
          <a:p>
            <a:pPr>
              <a:defRPr/>
            </a:pPr>
            <a:endParaRPr lang="ru-RU"/>
          </a:p>
          <a:p>
            <a:pPr>
              <a:defRPr/>
            </a:pPr>
            <a:r>
              <a:rPr lang="ru-RU" sz="1200" b="0" i="0" u="none" strike="noStrike">
                <a:solidFill>
                  <a:schemeClr val="tx1"/>
                </a:solidFill>
                <a:latin typeface="+mn-lt"/>
                <a:ea typeface="+mn-ea"/>
                <a:cs typeface="+mn-cs"/>
              </a:rPr>
              <a:t>Время профилактической проверки работоспособности (периодичности профилактики) необ-ходимо выбирать так, что бы обеспечить требуемое время вероятности безотказной работы.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19</a:t>
            </a:fld>
            <a:endParaRPr lang="ru-R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sz="1200" b="0" i="0" u="none" strike="noStrike">
                <a:solidFill>
                  <a:schemeClr val="tx1"/>
                </a:solidFill>
                <a:latin typeface="+mn-lt"/>
                <a:ea typeface="+mn-ea"/>
                <a:cs typeface="+mn-cs"/>
              </a:rPr>
              <a:t>где nср - среднее количество ожидаемых отказов какого-то элемента за указанное вре- мя t.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21</a:t>
            </a:fld>
            <a:endParaRPr lang="ru-R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a:t>На первый взгляд задача по определению количества запасных блоков кажется аналогичной предыдущей. </a:t>
            </a:r>
            <a:endParaRPr/>
          </a:p>
          <a:p>
            <a:pPr>
              <a:defRPr/>
            </a:pPr>
            <a:r>
              <a:rPr lang="ru-RU"/>
              <a:t>Следует, казалось бы, только условиться, что под элементом мы будем понимать блок, узел т.п. Но это не так просто. В предыдущей задаче мы имели дело с невосстанавливаемыми элементами типа электрических ламп, конденсаторов, резисторов и др., а здесь – с ремонтируемыми объектами: блоками, узлами и даже целыми системами, которые при нормальной организации технической эксплуатации обязательно надо иметь в качестве запасных. </a:t>
            </a:r>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27</a:t>
            </a:fld>
            <a:endParaRPr lang="ru-R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a:t> где  N</a:t>
            </a:r>
            <a:r>
              <a:rPr lang="el-GR"/>
              <a:t>λ</a:t>
            </a:r>
            <a:r>
              <a:rPr lang="ru-RU"/>
              <a:t> - интенсивность отказов системы из N блоков</a:t>
            </a:r>
            <a:endParaRPr/>
          </a:p>
          <a:p>
            <a:pPr>
              <a:defRPr/>
            </a:pPr>
            <a:r>
              <a:rPr lang="el-GR" sz="1200" b="0" i="0" u="none" strike="noStrike">
                <a:solidFill>
                  <a:schemeClr val="tx1"/>
                </a:solidFill>
                <a:latin typeface="+mn-lt"/>
                <a:ea typeface="+mn-ea"/>
                <a:cs typeface="+mn-cs"/>
              </a:rPr>
              <a:t>μ</a:t>
            </a:r>
            <a:r>
              <a:rPr lang="ru-RU" sz="1200" b="0" i="0" u="none" strike="noStrike">
                <a:solidFill>
                  <a:schemeClr val="tx1"/>
                </a:solidFill>
                <a:latin typeface="+mn-lt"/>
                <a:ea typeface="+mn-ea"/>
                <a:cs typeface="+mn-cs"/>
              </a:rPr>
              <a:t> - интенсивность восстановления только одного блока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28</a:t>
            </a:fld>
            <a:endParaRPr lang="ru-R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a:t> где  N</a:t>
            </a:r>
            <a:r>
              <a:rPr lang="el-GR"/>
              <a:t>λ</a:t>
            </a:r>
            <a:r>
              <a:rPr lang="ru-RU"/>
              <a:t> - интенсивность отказов системы из N блоков</a:t>
            </a:r>
            <a:endParaRPr/>
          </a:p>
          <a:p>
            <a:pPr>
              <a:defRPr/>
            </a:pPr>
            <a:r>
              <a:rPr lang="el-GR" sz="1200" b="0" i="0" u="none" strike="noStrike">
                <a:solidFill>
                  <a:schemeClr val="tx1"/>
                </a:solidFill>
                <a:latin typeface="+mn-lt"/>
                <a:ea typeface="+mn-ea"/>
                <a:cs typeface="+mn-cs"/>
              </a:rPr>
              <a:t>μ</a:t>
            </a:r>
            <a:r>
              <a:rPr lang="ru-RU" sz="1200" b="0" i="0" u="none" strike="noStrike">
                <a:solidFill>
                  <a:schemeClr val="tx1"/>
                </a:solidFill>
                <a:latin typeface="+mn-lt"/>
                <a:ea typeface="+mn-ea"/>
                <a:cs typeface="+mn-cs"/>
              </a:rPr>
              <a:t> - интенсивность восстановления только одного блока </a:t>
            </a:r>
            <a:endParaRPr lang="ru-RU"/>
          </a:p>
        </p:txBody>
      </p:sp>
      <p:sp>
        <p:nvSpPr>
          <p:cNvPr id="4" name="Номер слайда 3"/>
          <p:cNvSpPr>
            <a:spLocks noGrp="1"/>
          </p:cNvSpPr>
          <p:nvPr>
            <p:ph type="sldNum" sz="quarter" idx="10"/>
          </p:nvPr>
        </p:nvSpPr>
        <p:spPr bwMode="auto"/>
        <p:txBody>
          <a:bodyPr/>
          <a:lstStyle/>
          <a:p>
            <a:pPr>
              <a:defRPr/>
            </a:pPr>
            <a:fld id="{3370AAC8-68B7-405B-A682-D1F706DDB456}" type="slidenum">
              <a:rPr lang="ru-RU"/>
              <a:t>29</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userDrawn="1">
  <p:cSld name="Титульный слайд">
    <p:spTree>
      <p:nvGrpSpPr>
        <p:cNvPr id="1" name=""/>
        <p:cNvGrpSpPr/>
        <p:nvPr/>
      </p:nvGrpSpPr>
      <p:grpSpPr bwMode="auto">
        <a:xfrm>
          <a:off x="0" y="0"/>
          <a:ext cx="0" cy="0"/>
          <a:chOff x="0" y="0"/>
          <a:chExt cx="0" cy="0"/>
        </a:xfrm>
      </p:grpSpPr>
      <p:grpSp>
        <p:nvGrpSpPr>
          <p:cNvPr id="7" name="Group 15"/>
          <p:cNvGrpSpPr/>
          <p:nvPr/>
        </p:nvGrpSpPr>
        <p:grpSpPr bwMode="auto">
          <a:xfrm>
            <a:off x="0" y="0"/>
            <a:ext cx="9144000" cy="6858000"/>
            <a:chOff x="0" y="0"/>
            <a:chExt cx="9144000" cy="6858000"/>
          </a:xfrm>
        </p:grpSpPr>
        <p:sp>
          <p:nvSpPr>
            <p:cNvPr id="8" name="Rectangle 7"/>
            <p:cNvSpPr/>
            <p:nvPr/>
          </p:nvSpPr>
          <p:spPr bwMode="auto">
            <a:xfrm>
              <a:off x="0" y="0"/>
              <a:ext cx="7162800" cy="6858000"/>
            </a:xfrm>
            <a:prstGeom prst="rect">
              <a:avLst/>
            </a:prstGeom>
            <a:gradFill>
              <a:gsLst>
                <a:gs pos="0">
                  <a:srgbClr val="010101">
                    <a:alpha val="51765"/>
                  </a:srgbClr>
                </a:gs>
                <a:gs pos="60000">
                  <a:srgbClr val="FEFEFE">
                    <a:alpha val="0"/>
                  </a:srgbClr>
                </a:gs>
              </a:gsLst>
              <a:path path="circle"/>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Rectangle 8"/>
            <p:cNvSpPr/>
            <p:nvPr/>
          </p:nvSpPr>
          <p:spPr bwMode="auto">
            <a:xfrm>
              <a:off x="1143000" y="0"/>
              <a:ext cx="8001000" cy="6858000"/>
            </a:xfrm>
            <a:prstGeom prst="rect">
              <a:avLst/>
            </a:prstGeom>
            <a:gradFill>
              <a:gsLst>
                <a:gs pos="0">
                  <a:srgbClr val="010101">
                    <a:alpha val="56000"/>
                  </a:srgbClr>
                </a:gs>
                <a:gs pos="61000">
                  <a:srgbClr val="FEFEFE">
                    <a:alpha val="0"/>
                  </a:srgbClr>
                </a:gs>
              </a:gsLst>
              <a:path path="circle"/>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0" name="Freeform 9"/>
          <p:cNvSpPr/>
          <p:nvPr/>
        </p:nvSpPr>
        <p:spPr bwMode="auto">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extrusionOk="0">
                <a:moveTo>
                  <a:pt x="0" y="495300"/>
                </a:moveTo>
                <a:lnTo>
                  <a:pt x="169546" y="0"/>
                </a:lnTo>
                <a:lnTo>
                  <a:pt x="3966210" y="95250"/>
                </a:lnTo>
                <a:lnTo>
                  <a:pt x="7785734" y="0"/>
                </a:lnTo>
                <a:lnTo>
                  <a:pt x="7955280" y="495300"/>
                </a:lnTo>
                <a:lnTo>
                  <a:pt x="0" y="495300"/>
                </a:lnTo>
                <a:close/>
              </a:path>
            </a:pathLst>
          </a:custGeom>
          <a:gradFill>
            <a:gsLst>
              <a:gs pos="30000">
                <a:srgbClr val="010101">
                  <a:alpha val="34000"/>
                </a:srgbClr>
              </a:gs>
              <a:gs pos="100000">
                <a:srgbClr val="010101">
                  <a:alpha val="26000"/>
                </a:srgbClr>
              </a:gs>
            </a:gsLst>
            <a:path path="circle"/>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Rectangle 10"/>
          <p:cNvSpPr/>
          <p:nvPr/>
        </p:nvSpPr>
        <p:spPr bwMode="auto">
          <a:xfrm>
            <a:off x="989951"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 name="Rectangle 11"/>
          <p:cNvSpPr/>
          <p:nvPr/>
        </p:nvSpPr>
        <p:spPr bwMode="auto">
          <a:xfrm>
            <a:off x="990600" y="1009650"/>
            <a:ext cx="7179733" cy="4831643"/>
          </a:xfrm>
          <a:prstGeom prst="rect">
            <a:avLst/>
          </a:prstGeom>
          <a:blipFill>
            <a:blip r:embed="rId2">
              <a:alphaModFix amt="20000"/>
              <a:grayscl/>
              <a:lum contrast="12000"/>
            </a:blip>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13" name="Picture 2" descr="C:\Users\Administrator\Desktop\Pushpin Dev\Assets\pushpinLeft.png"/>
          <p:cNvPicPr>
            <a:picLocks noChangeAspect="1" noChangeArrowheads="1"/>
          </p:cNvPicPr>
          <p:nvPr/>
        </p:nvPicPr>
        <p:blipFill>
          <a:blip r:embed="rId3"/>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a:stretch/>
        </p:blipFill>
        <p:spPr bwMode="auto">
          <a:xfrm rot="4096195">
            <a:off x="7855433" y="749720"/>
            <a:ext cx="566928" cy="566928"/>
          </a:xfrm>
          <a:prstGeom prst="rect">
            <a:avLst/>
          </a:prstGeom>
          <a:noFill/>
        </p:spPr>
      </p:pic>
      <p:sp>
        <p:nvSpPr>
          <p:cNvPr id="2" name="Title 1"/>
          <p:cNvSpPr>
            <a:spLocks noGrp="1"/>
          </p:cNvSpPr>
          <p:nvPr>
            <p:ph type="ctrTitle"/>
          </p:nvPr>
        </p:nvSpPr>
        <p:spPr bwMode="auto">
          <a:xfrm>
            <a:off x="1727201" y="1794935"/>
            <a:ext cx="5723468" cy="1828090"/>
          </a:xfrm>
        </p:spPr>
        <p:txBody>
          <a:bodyPr anchor="b">
            <a:normAutofit/>
          </a:bodyPr>
          <a:lstStyle>
            <a:lvl1pPr>
              <a:defRPr sz="4800"/>
            </a:lvl1pPr>
          </a:lstStyle>
          <a:p>
            <a:pPr>
              <a:defRPr/>
            </a:pPr>
            <a:r>
              <a:rPr lang="ru-RU"/>
              <a:t>Образец заголовка</a:t>
            </a:r>
            <a:endParaRPr lang="en-US"/>
          </a:p>
        </p:txBody>
      </p:sp>
      <p:sp>
        <p:nvSpPr>
          <p:cNvPr id="3" name="Subtitle 2"/>
          <p:cNvSpPr>
            <a:spLocks noGrp="1"/>
          </p:cNvSpPr>
          <p:nvPr>
            <p:ph type="subTitle" idx="1"/>
          </p:nvPr>
        </p:nvSpPr>
        <p:spPr bwMode="auto">
          <a:xfrm>
            <a:off x="1727199"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ru-RU"/>
              <a:t>Образец подзаголовка</a:t>
            </a:r>
            <a:endParaRPr lang="en-US"/>
          </a:p>
        </p:txBody>
      </p:sp>
      <p:sp>
        <p:nvSpPr>
          <p:cNvPr id="4" name="Date Placeholder 3"/>
          <p:cNvSpPr>
            <a:spLocks noGrp="1"/>
          </p:cNvSpPr>
          <p:nvPr>
            <p:ph type="dt" sz="half" idx="10"/>
          </p:nvPr>
        </p:nvSpPr>
        <p:spPr bwMode="auto">
          <a:xfrm>
            <a:off x="6770676" y="5357592"/>
            <a:ext cx="1213821" cy="365125"/>
          </a:xfrm>
        </p:spPr>
        <p:txBody>
          <a:bodyPr/>
          <a:lstStyle/>
          <a:p>
            <a:pPr>
              <a:defRPr/>
            </a:pPr>
            <a:fld id="{B4C71EC6-210F-42DE-9C53-41977AD35B3D}" type="datetimeFigureOut">
              <a:rPr lang="ru-RU"/>
              <a:t>21.02.2024</a:t>
            </a:fld>
            <a:endParaRPr lang="ru-RU"/>
          </a:p>
        </p:txBody>
      </p:sp>
      <p:sp>
        <p:nvSpPr>
          <p:cNvPr id="5" name="Footer Placeholder 4"/>
          <p:cNvSpPr>
            <a:spLocks noGrp="1"/>
          </p:cNvSpPr>
          <p:nvPr>
            <p:ph type="ftr" sz="quarter" idx="11"/>
          </p:nvPr>
        </p:nvSpPr>
        <p:spPr bwMode="auto">
          <a:xfrm>
            <a:off x="1174044" y="5357592"/>
            <a:ext cx="5034845" cy="365125"/>
          </a:xfrm>
        </p:spPr>
        <p:txBody>
          <a:bodyPr/>
          <a:lstStyle/>
          <a:p>
            <a:pPr>
              <a:defRPr/>
            </a:pPr>
            <a:endParaRPr lang="ru-RU"/>
          </a:p>
        </p:txBody>
      </p:sp>
      <p:sp>
        <p:nvSpPr>
          <p:cNvPr id="6" name="Slide Number Placeholder 5"/>
          <p:cNvSpPr>
            <a:spLocks noGrp="1"/>
          </p:cNvSpPr>
          <p:nvPr>
            <p:ph type="sldNum" sz="quarter" idx="12"/>
          </p:nvPr>
        </p:nvSpPr>
        <p:spPr bwMode="auto">
          <a:xfrm>
            <a:off x="6213929" y="5357592"/>
            <a:ext cx="554023" cy="365125"/>
          </a:xfrm>
        </p:spPr>
        <p:txBody>
          <a:bodyPr/>
          <a:lstStyle>
            <a:lvl1pPr algn="ctr">
              <a:defRPr/>
            </a:lvl1pPr>
          </a:lstStyle>
          <a:p>
            <a:pPr>
              <a:defRPr/>
            </a:pPr>
            <a:fld id="{B19B0651-EE4F-4900-A07F-96A6BFA9D0F0}" type="slidenum">
              <a:rPr lang="ru-RU"/>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Заголовок и объект">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ru-RU"/>
              <a:t>Образец заголовка</a:t>
            </a:r>
            <a:endParaRPr lang="en-US"/>
          </a:p>
        </p:txBody>
      </p:sp>
      <p:sp>
        <p:nvSpPr>
          <p:cNvPr id="3" name="Content Placeholder 2"/>
          <p:cNvSpPr>
            <a:spLocks noGrp="1"/>
          </p:cNvSpPr>
          <p:nvPr>
            <p:ph idx="1"/>
          </p:nvPr>
        </p:nvSpPr>
        <p:spPr bwMode="auto"/>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B4C71EC6-210F-42DE-9C53-41977AD35B3D}" type="datetimeFigureOut">
              <a:rPr lang="ru-RU"/>
              <a:t>21.02.2024</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6" name="Slide Number Placeholder 5"/>
          <p:cNvSpPr>
            <a:spLocks noGrp="1"/>
          </p:cNvSpPr>
          <p:nvPr>
            <p:ph type="sldNum" sz="quarter" idx="12"/>
          </p:nvPr>
        </p:nvSpPr>
        <p:spPr bwMode="auto"/>
        <p:txBody>
          <a:bodyPr/>
          <a:lstStyle/>
          <a:p>
            <a:pPr>
              <a:defRPr/>
            </a:pPr>
            <a:fld id="{B19B0651-EE4F-4900-A07F-96A6BFA9D0F0}" type="slidenum">
              <a:rPr lang="ru-RU"/>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Заголовок раздела">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1444979" y="2239430"/>
            <a:ext cx="6254044" cy="1362075"/>
          </a:xfrm>
        </p:spPr>
        <p:txBody>
          <a:bodyPr anchor="b"/>
          <a:lstStyle>
            <a:lvl1pPr algn="ctr">
              <a:defRPr sz="4000" b="0" cap="none"/>
            </a:lvl1pPr>
          </a:lstStyle>
          <a:p>
            <a:pPr>
              <a:defRPr/>
            </a:pPr>
            <a:r>
              <a:rPr lang="ru-RU"/>
              <a:t>Образец заголовка</a:t>
            </a:r>
            <a:endParaRPr lang="en-US"/>
          </a:p>
        </p:txBody>
      </p:sp>
      <p:sp>
        <p:nvSpPr>
          <p:cNvPr id="3" name="Text Placeholder 2"/>
          <p:cNvSpPr>
            <a:spLocks noGrp="1"/>
          </p:cNvSpPr>
          <p:nvPr>
            <p:ph type="body" idx="1"/>
          </p:nvPr>
        </p:nvSpPr>
        <p:spPr bwMode="auto">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ru-RU"/>
              <a:t>Образец текста</a:t>
            </a:r>
            <a:endParaRPr/>
          </a:p>
        </p:txBody>
      </p:sp>
      <p:sp>
        <p:nvSpPr>
          <p:cNvPr id="4" name="Date Placeholder 3"/>
          <p:cNvSpPr>
            <a:spLocks noGrp="1"/>
          </p:cNvSpPr>
          <p:nvPr>
            <p:ph type="dt" sz="half" idx="10"/>
          </p:nvPr>
        </p:nvSpPr>
        <p:spPr bwMode="auto"/>
        <p:txBody>
          <a:bodyPr/>
          <a:lstStyle/>
          <a:p>
            <a:pPr>
              <a:defRPr/>
            </a:pPr>
            <a:fld id="{B4C71EC6-210F-42DE-9C53-41977AD35B3D}" type="datetimeFigureOut">
              <a:rPr lang="ru-RU"/>
              <a:t>21.02.2024</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6" name="Slide Number Placeholder 5"/>
          <p:cNvSpPr>
            <a:spLocks noGrp="1"/>
          </p:cNvSpPr>
          <p:nvPr>
            <p:ph type="sldNum" sz="quarter" idx="12"/>
          </p:nvPr>
        </p:nvSpPr>
        <p:spPr bwMode="auto"/>
        <p:txBody>
          <a:bodyPr/>
          <a:lstStyle/>
          <a:p>
            <a:pPr>
              <a:defRPr/>
            </a:pPr>
            <a:fld id="{B19B0651-EE4F-4900-A07F-96A6BFA9D0F0}" type="slidenum">
              <a:rPr lang="ru-RU"/>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Два объекта">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ru-RU"/>
              <a:t>Образец заголовка</a:t>
            </a:r>
            <a:endParaRPr lang="en-US"/>
          </a:p>
        </p:txBody>
      </p:sp>
      <p:sp>
        <p:nvSpPr>
          <p:cNvPr id="5" name="Date Placeholder 4"/>
          <p:cNvSpPr>
            <a:spLocks noGrp="1"/>
          </p:cNvSpPr>
          <p:nvPr>
            <p:ph type="dt" sz="half" idx="10"/>
          </p:nvPr>
        </p:nvSpPr>
        <p:spPr bwMode="auto"/>
        <p:txBody>
          <a:bodyPr/>
          <a:lstStyle/>
          <a:p>
            <a:pPr>
              <a:defRPr/>
            </a:pPr>
            <a:fld id="{B4C71EC6-210F-42DE-9C53-41977AD35B3D}" type="datetimeFigureOut">
              <a:rPr lang="ru-RU"/>
              <a:t>21.02.2024</a:t>
            </a:fld>
            <a:endParaRPr lang="ru-RU"/>
          </a:p>
        </p:txBody>
      </p:sp>
      <p:sp>
        <p:nvSpPr>
          <p:cNvPr id="6" name="Footer Placeholder 5"/>
          <p:cNvSpPr>
            <a:spLocks noGrp="1"/>
          </p:cNvSpPr>
          <p:nvPr>
            <p:ph type="ftr" sz="quarter" idx="11"/>
          </p:nvPr>
        </p:nvSpPr>
        <p:spPr bwMode="auto"/>
        <p:txBody>
          <a:bodyPr/>
          <a:lstStyle/>
          <a:p>
            <a:pPr>
              <a:defRPr/>
            </a:pPr>
            <a:endParaRPr lang="ru-RU"/>
          </a:p>
        </p:txBody>
      </p:sp>
      <p:sp>
        <p:nvSpPr>
          <p:cNvPr id="7" name="Slide Number Placeholder 6"/>
          <p:cNvSpPr>
            <a:spLocks noGrp="1"/>
          </p:cNvSpPr>
          <p:nvPr>
            <p:ph type="sldNum" sz="quarter" idx="12"/>
          </p:nvPr>
        </p:nvSpPr>
        <p:spPr bwMode="auto"/>
        <p:txBody>
          <a:bodyPr/>
          <a:lstStyle/>
          <a:p>
            <a:pPr>
              <a:defRPr/>
            </a:pPr>
            <a:fld id="{B19B0651-EE4F-4900-A07F-96A6BFA9D0F0}" type="slidenum">
              <a:rPr lang="ru-RU"/>
              <a:t>‹#›</a:t>
            </a:fld>
            <a:endParaRPr lang="ru-RU"/>
          </a:p>
        </p:txBody>
      </p:sp>
      <p:sp>
        <p:nvSpPr>
          <p:cNvPr id="9" name="Content Placeholder 8"/>
          <p:cNvSpPr>
            <a:spLocks noGrp="1"/>
          </p:cNvSpPr>
          <p:nvPr>
            <p:ph sz="quarter" idx="13"/>
          </p:nvPr>
        </p:nvSpPr>
        <p:spPr bwMode="auto">
          <a:xfrm>
            <a:off x="1298448" y="2121407"/>
            <a:ext cx="3200400" cy="3602735"/>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11" name="Content Placeholder 10"/>
          <p:cNvSpPr>
            <a:spLocks noGrp="1"/>
          </p:cNvSpPr>
          <p:nvPr>
            <p:ph sz="quarter" idx="14"/>
          </p:nvPr>
        </p:nvSpPr>
        <p:spPr bwMode="auto">
          <a:xfrm>
            <a:off x="4663440" y="2119313"/>
            <a:ext cx="3200400" cy="3605212"/>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Сравнение">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lvl1pPr>
              <a:defRPr/>
            </a:lvl1pPr>
          </a:lstStyle>
          <a:p>
            <a:pPr>
              <a:defRPr/>
            </a:pPr>
            <a:r>
              <a:rPr lang="ru-RU"/>
              <a:t>Образец заголовка</a:t>
            </a:r>
            <a:endParaRPr lang="en-US"/>
          </a:p>
        </p:txBody>
      </p:sp>
      <p:sp>
        <p:nvSpPr>
          <p:cNvPr id="3" name="Text Placeholder 2"/>
          <p:cNvSpPr>
            <a:spLocks noGrp="1"/>
          </p:cNvSpPr>
          <p:nvPr>
            <p:ph type="body" idx="1"/>
          </p:nvPr>
        </p:nvSpPr>
        <p:spPr bwMode="auto">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5" name="Text Placeholder 4"/>
          <p:cNvSpPr>
            <a:spLocks noGrp="1"/>
          </p:cNvSpPr>
          <p:nvPr>
            <p:ph type="body" sz="quarter" idx="3"/>
          </p:nvPr>
        </p:nvSpPr>
        <p:spPr bwMode="auto">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7" name="Date Placeholder 6"/>
          <p:cNvSpPr>
            <a:spLocks noGrp="1"/>
          </p:cNvSpPr>
          <p:nvPr>
            <p:ph type="dt" sz="half" idx="10"/>
          </p:nvPr>
        </p:nvSpPr>
        <p:spPr bwMode="auto"/>
        <p:txBody>
          <a:bodyPr/>
          <a:lstStyle/>
          <a:p>
            <a:pPr>
              <a:defRPr/>
            </a:pPr>
            <a:fld id="{B4C71EC6-210F-42DE-9C53-41977AD35B3D}" type="datetimeFigureOut">
              <a:rPr lang="ru-RU"/>
              <a:t>21.02.2024</a:t>
            </a:fld>
            <a:endParaRPr lang="ru-RU"/>
          </a:p>
        </p:txBody>
      </p:sp>
      <p:sp>
        <p:nvSpPr>
          <p:cNvPr id="8" name="Footer Placeholder 7"/>
          <p:cNvSpPr>
            <a:spLocks noGrp="1"/>
          </p:cNvSpPr>
          <p:nvPr>
            <p:ph type="ftr" sz="quarter" idx="11"/>
          </p:nvPr>
        </p:nvSpPr>
        <p:spPr bwMode="auto"/>
        <p:txBody>
          <a:bodyPr/>
          <a:lstStyle/>
          <a:p>
            <a:pPr>
              <a:defRPr/>
            </a:pPr>
            <a:endParaRPr lang="ru-RU"/>
          </a:p>
        </p:txBody>
      </p:sp>
      <p:sp>
        <p:nvSpPr>
          <p:cNvPr id="9" name="Slide Number Placeholder 8"/>
          <p:cNvSpPr>
            <a:spLocks noGrp="1"/>
          </p:cNvSpPr>
          <p:nvPr>
            <p:ph type="sldNum" sz="quarter" idx="12"/>
          </p:nvPr>
        </p:nvSpPr>
        <p:spPr bwMode="auto"/>
        <p:txBody>
          <a:bodyPr/>
          <a:lstStyle/>
          <a:p>
            <a:pPr>
              <a:defRPr/>
            </a:pPr>
            <a:fld id="{B19B0651-EE4F-4900-A07F-96A6BFA9D0F0}" type="slidenum">
              <a:rPr lang="ru-RU"/>
              <a:t>‹#›</a:t>
            </a:fld>
            <a:endParaRPr lang="ru-RU"/>
          </a:p>
        </p:txBody>
      </p:sp>
      <p:sp>
        <p:nvSpPr>
          <p:cNvPr id="11" name="Content Placeholder 10"/>
          <p:cNvSpPr>
            <a:spLocks noGrp="1"/>
          </p:cNvSpPr>
          <p:nvPr>
            <p:ph sz="quarter" idx="13"/>
          </p:nvPr>
        </p:nvSpPr>
        <p:spPr bwMode="auto">
          <a:xfrm>
            <a:off x="1298448" y="2944368"/>
            <a:ext cx="3227832" cy="2779776"/>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13" name="Content Placeholder 12"/>
          <p:cNvSpPr>
            <a:spLocks noGrp="1"/>
          </p:cNvSpPr>
          <p:nvPr>
            <p:ph sz="quarter" idx="14"/>
          </p:nvPr>
        </p:nvSpPr>
        <p:spPr bwMode="auto">
          <a:xfrm>
            <a:off x="4645150" y="2944813"/>
            <a:ext cx="3227832" cy="2779776"/>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Только заголовок">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ru-RU"/>
              <a:t>Образец заголовка</a:t>
            </a:r>
            <a:endParaRPr lang="en-US"/>
          </a:p>
        </p:txBody>
      </p:sp>
      <p:sp>
        <p:nvSpPr>
          <p:cNvPr id="3" name="Date Placeholder 2"/>
          <p:cNvSpPr>
            <a:spLocks noGrp="1"/>
          </p:cNvSpPr>
          <p:nvPr>
            <p:ph type="dt" sz="half" idx="10"/>
          </p:nvPr>
        </p:nvSpPr>
        <p:spPr bwMode="auto"/>
        <p:txBody>
          <a:bodyPr/>
          <a:lstStyle/>
          <a:p>
            <a:pPr>
              <a:defRPr/>
            </a:pPr>
            <a:fld id="{B4C71EC6-210F-42DE-9C53-41977AD35B3D}" type="datetimeFigureOut">
              <a:rPr lang="ru-RU"/>
              <a:t>21.02.2024</a:t>
            </a:fld>
            <a:endParaRPr lang="ru-RU"/>
          </a:p>
        </p:txBody>
      </p:sp>
      <p:sp>
        <p:nvSpPr>
          <p:cNvPr id="4" name="Footer Placeholder 3"/>
          <p:cNvSpPr>
            <a:spLocks noGrp="1"/>
          </p:cNvSpPr>
          <p:nvPr>
            <p:ph type="ftr" sz="quarter" idx="11"/>
          </p:nvPr>
        </p:nvSpPr>
        <p:spPr bwMode="auto"/>
        <p:txBody>
          <a:bodyPr/>
          <a:lstStyle/>
          <a:p>
            <a:pPr>
              <a:defRPr/>
            </a:pPr>
            <a:endParaRPr lang="ru-RU"/>
          </a:p>
        </p:txBody>
      </p:sp>
      <p:sp>
        <p:nvSpPr>
          <p:cNvPr id="5" name="Slide Number Placeholder 4"/>
          <p:cNvSpPr>
            <a:spLocks noGrp="1"/>
          </p:cNvSpPr>
          <p:nvPr>
            <p:ph type="sldNum" sz="quarter" idx="12"/>
          </p:nvPr>
        </p:nvSpPr>
        <p:spPr bwMode="auto"/>
        <p:txBody>
          <a:bodyPr/>
          <a:lstStyle/>
          <a:p>
            <a:pPr>
              <a:defRPr/>
            </a:pPr>
            <a:fld id="{B19B0651-EE4F-4900-A07F-96A6BFA9D0F0}" type="slidenum">
              <a:rPr lang="ru-RU"/>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Пустой слайд">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4C71EC6-210F-42DE-9C53-41977AD35B3D}" type="datetimeFigureOut">
              <a:rPr lang="ru-RU"/>
              <a:t>21.02.2024</a:t>
            </a:fld>
            <a:endParaRPr lang="ru-RU"/>
          </a:p>
        </p:txBody>
      </p:sp>
      <p:sp>
        <p:nvSpPr>
          <p:cNvPr id="3" name="Footer Placeholder 2"/>
          <p:cNvSpPr>
            <a:spLocks noGrp="1"/>
          </p:cNvSpPr>
          <p:nvPr>
            <p:ph type="ftr" sz="quarter" idx="11"/>
          </p:nvPr>
        </p:nvSpPr>
        <p:spPr bwMode="auto"/>
        <p:txBody>
          <a:bodyPr/>
          <a:lstStyle/>
          <a:p>
            <a:pPr>
              <a:defRPr/>
            </a:pPr>
            <a:endParaRPr lang="ru-RU"/>
          </a:p>
        </p:txBody>
      </p:sp>
      <p:sp>
        <p:nvSpPr>
          <p:cNvPr id="4" name="Slide Number Placeholder 3"/>
          <p:cNvSpPr>
            <a:spLocks noGrp="1"/>
          </p:cNvSpPr>
          <p:nvPr>
            <p:ph type="sldNum" sz="quarter" idx="12"/>
          </p:nvPr>
        </p:nvSpPr>
        <p:spPr bwMode="auto"/>
        <p:txBody>
          <a:bodyPr/>
          <a:lstStyle/>
          <a:p>
            <a:pPr>
              <a:defRPr/>
            </a:pPr>
            <a:fld id="{B19B0651-EE4F-4900-A07F-96A6BFA9D0F0}" type="slidenum">
              <a:rPr lang="ru-RU"/>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userDrawn="1">
  <p:cSld name="Объект с подписью">
    <p:spTree>
      <p:nvGrpSpPr>
        <p:cNvPr id="1" name=""/>
        <p:cNvGrpSpPr/>
        <p:nvPr/>
      </p:nvGrpSpPr>
      <p:grpSpPr bwMode="auto">
        <a:xfrm>
          <a:off x="0" y="0"/>
          <a:ext cx="0" cy="0"/>
          <a:chOff x="0" y="0"/>
          <a:chExt cx="0" cy="0"/>
        </a:xfrm>
      </p:grpSpPr>
      <p:grpSp>
        <p:nvGrpSpPr>
          <p:cNvPr id="8" name="Group 15"/>
          <p:cNvGrpSpPr/>
          <p:nvPr/>
        </p:nvGrpSpPr>
        <p:grpSpPr bwMode="auto">
          <a:xfrm>
            <a:off x="0" y="0"/>
            <a:ext cx="9144000" cy="6858000"/>
            <a:chOff x="0" y="0"/>
            <a:chExt cx="9144000" cy="6858000"/>
          </a:xfrm>
        </p:grpSpPr>
        <p:sp>
          <p:nvSpPr>
            <p:cNvPr id="9" name="Rectangle 8"/>
            <p:cNvSpPr/>
            <p:nvPr/>
          </p:nvSpPr>
          <p:spPr bwMode="auto">
            <a:xfrm>
              <a:off x="0" y="0"/>
              <a:ext cx="7162800" cy="6858000"/>
            </a:xfrm>
            <a:prstGeom prst="rect">
              <a:avLst/>
            </a:prstGeom>
            <a:gradFill>
              <a:gsLst>
                <a:gs pos="0">
                  <a:srgbClr val="010101">
                    <a:alpha val="51765"/>
                  </a:srgbClr>
                </a:gs>
                <a:gs pos="60000">
                  <a:srgbClr val="FEFEFE">
                    <a:alpha val="0"/>
                  </a:srgbClr>
                </a:gs>
              </a:gsLst>
              <a:path path="circle"/>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 name="Rectangle 9"/>
            <p:cNvSpPr/>
            <p:nvPr/>
          </p:nvSpPr>
          <p:spPr bwMode="auto">
            <a:xfrm>
              <a:off x="1143000" y="0"/>
              <a:ext cx="8001000" cy="6858000"/>
            </a:xfrm>
            <a:prstGeom prst="rect">
              <a:avLst/>
            </a:prstGeom>
            <a:gradFill>
              <a:gsLst>
                <a:gs pos="0">
                  <a:srgbClr val="010101">
                    <a:alpha val="56000"/>
                  </a:srgbClr>
                </a:gs>
                <a:gs pos="61000">
                  <a:srgbClr val="FEFEFE">
                    <a:alpha val="0"/>
                  </a:srgbClr>
                </a:gs>
              </a:gsLst>
              <a:path path="circle"/>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1" name="Freeform 10"/>
          <p:cNvSpPr/>
          <p:nvPr/>
        </p:nvSpPr>
        <p:spPr bwMode="auto">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extrusionOk="0">
                <a:moveTo>
                  <a:pt x="0" y="495300"/>
                </a:moveTo>
                <a:lnTo>
                  <a:pt x="169546" y="0"/>
                </a:lnTo>
                <a:lnTo>
                  <a:pt x="3966210" y="95250"/>
                </a:lnTo>
                <a:lnTo>
                  <a:pt x="7785734" y="0"/>
                </a:lnTo>
                <a:lnTo>
                  <a:pt x="7955280" y="495300"/>
                </a:lnTo>
                <a:lnTo>
                  <a:pt x="0" y="495300"/>
                </a:lnTo>
                <a:close/>
              </a:path>
            </a:pathLst>
          </a:custGeom>
          <a:gradFill>
            <a:gsLst>
              <a:gs pos="30000">
                <a:srgbClr val="010101">
                  <a:alpha val="34000"/>
                </a:srgbClr>
              </a:gs>
              <a:gs pos="100000">
                <a:srgbClr val="010101">
                  <a:alpha val="26000"/>
                </a:srgbClr>
              </a:gs>
            </a:gsLst>
            <a:path path="circle"/>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 name="Rectangle 15"/>
          <p:cNvSpPr/>
          <p:nvPr/>
        </p:nvSpPr>
        <p:spPr bwMode="auto">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 name="Rectangle 16"/>
          <p:cNvSpPr/>
          <p:nvPr/>
        </p:nvSpPr>
        <p:spPr bwMode="auto">
          <a:xfrm rot="60000">
            <a:off x="4471416" y="603504"/>
            <a:ext cx="3788941" cy="5722296"/>
          </a:xfrm>
          <a:prstGeom prst="rect">
            <a:avLst/>
          </a:prstGeom>
          <a:blipFill>
            <a:blip r:embed="rId2">
              <a:alphaModFix amt="20000"/>
              <a:grayscl/>
              <a:lum contrast="12000"/>
            </a:blip>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Rectangle 12"/>
          <p:cNvSpPr/>
          <p:nvPr/>
        </p:nvSpPr>
        <p:spPr bwMode="auto">
          <a:xfrm rot="21539999">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 name="Rectangle 13"/>
          <p:cNvSpPr/>
          <p:nvPr/>
        </p:nvSpPr>
        <p:spPr bwMode="auto">
          <a:xfrm rot="21539999">
            <a:off x="749808" y="576072"/>
            <a:ext cx="3788941" cy="5722296"/>
          </a:xfrm>
          <a:prstGeom prst="rect">
            <a:avLst/>
          </a:prstGeom>
          <a:blipFill>
            <a:blip r:embed="rId2">
              <a:alphaModFix amt="20000"/>
              <a:grayscl/>
              <a:lum contrast="12000"/>
            </a:blip>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18" name="Picture 2" descr="C:\Users\Administrator\Desktop\Pushpin Dev\Assets\pushpinLeft.png"/>
          <p:cNvPicPr>
            <a:picLocks noChangeAspect="1" noChangeArrowheads="1"/>
          </p:cNvPicPr>
          <p:nvPr/>
        </p:nvPicPr>
        <p:blipFill>
          <a:blip r:embed="rId3"/>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a:stretch/>
        </p:blipFill>
        <p:spPr bwMode="auto">
          <a:xfrm rot="4096195">
            <a:off x="6279647" y="333163"/>
            <a:ext cx="566928" cy="566928"/>
          </a:xfrm>
          <a:prstGeom prst="rect">
            <a:avLst/>
          </a:prstGeom>
          <a:noFill/>
        </p:spPr>
      </p:pic>
      <p:sp>
        <p:nvSpPr>
          <p:cNvPr id="2" name="Title 1"/>
          <p:cNvSpPr>
            <a:spLocks noGrp="1"/>
          </p:cNvSpPr>
          <p:nvPr>
            <p:ph type="title"/>
          </p:nvPr>
        </p:nvSpPr>
        <p:spPr bwMode="auto">
          <a:xfrm rot="-60000">
            <a:off x="1108976" y="2020042"/>
            <a:ext cx="3064827" cy="1503037"/>
          </a:xfrm>
        </p:spPr>
        <p:txBody>
          <a:bodyPr anchor="b">
            <a:normAutofit/>
          </a:bodyPr>
          <a:lstStyle>
            <a:lvl1pPr algn="ctr">
              <a:defRPr sz="2400" b="0"/>
            </a:lvl1pPr>
          </a:lstStyle>
          <a:p>
            <a:pPr>
              <a:defRPr/>
            </a:pPr>
            <a:r>
              <a:rPr lang="ru-RU"/>
              <a:t>Образец заголовка</a:t>
            </a:r>
            <a:endParaRPr lang="en-US"/>
          </a:p>
        </p:txBody>
      </p:sp>
      <p:sp>
        <p:nvSpPr>
          <p:cNvPr id="3" name="Content Placeholder 2"/>
          <p:cNvSpPr>
            <a:spLocks noGrp="1"/>
          </p:cNvSpPr>
          <p:nvPr>
            <p:ph idx="1"/>
          </p:nvPr>
        </p:nvSpPr>
        <p:spPr bwMode="auto">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Text Placeholder 3"/>
          <p:cNvSpPr>
            <a:spLocks noGrp="1"/>
          </p:cNvSpPr>
          <p:nvPr>
            <p:ph type="body" sz="half" idx="2"/>
          </p:nvPr>
        </p:nvSpPr>
        <p:spPr bwMode="auto">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ru-RU"/>
              <a:t>Образец текста</a:t>
            </a:r>
            <a:endParaRPr/>
          </a:p>
        </p:txBody>
      </p:sp>
      <p:sp>
        <p:nvSpPr>
          <p:cNvPr id="5" name="Date Placeholder 4"/>
          <p:cNvSpPr>
            <a:spLocks noGrp="1"/>
          </p:cNvSpPr>
          <p:nvPr>
            <p:ph type="dt" sz="half" idx="10"/>
          </p:nvPr>
        </p:nvSpPr>
        <p:spPr bwMode="auto">
          <a:xfrm rot="60000">
            <a:off x="6341698" y="5885672"/>
            <a:ext cx="1213821" cy="365125"/>
          </a:xfrm>
        </p:spPr>
        <p:txBody>
          <a:bodyPr/>
          <a:lstStyle/>
          <a:p>
            <a:pPr>
              <a:defRPr/>
            </a:pPr>
            <a:fld id="{B4C71EC6-210F-42DE-9C53-41977AD35B3D}" type="datetimeFigureOut">
              <a:rPr lang="ru-RU"/>
              <a:t>21.02.2024</a:t>
            </a:fld>
            <a:endParaRPr lang="ru-RU"/>
          </a:p>
        </p:txBody>
      </p:sp>
      <p:sp>
        <p:nvSpPr>
          <p:cNvPr id="6" name="Footer Placeholder 5"/>
          <p:cNvSpPr>
            <a:spLocks noGrp="1"/>
          </p:cNvSpPr>
          <p:nvPr>
            <p:ph type="ftr" sz="quarter" idx="11"/>
          </p:nvPr>
        </p:nvSpPr>
        <p:spPr bwMode="auto">
          <a:xfrm rot="-60000">
            <a:off x="914554" y="5829261"/>
            <a:ext cx="3522607" cy="365125"/>
          </a:xfrm>
        </p:spPr>
        <p:txBody>
          <a:bodyPr/>
          <a:lstStyle/>
          <a:p>
            <a:pPr>
              <a:defRPr/>
            </a:pPr>
            <a:endParaRPr lang="ru-RU"/>
          </a:p>
        </p:txBody>
      </p:sp>
      <p:sp>
        <p:nvSpPr>
          <p:cNvPr id="7" name="Slide Number Placeholder 6"/>
          <p:cNvSpPr>
            <a:spLocks noGrp="1"/>
          </p:cNvSpPr>
          <p:nvPr>
            <p:ph type="sldNum" sz="quarter" idx="12"/>
          </p:nvPr>
        </p:nvSpPr>
        <p:spPr bwMode="auto">
          <a:xfrm rot="60000">
            <a:off x="7557313" y="5896961"/>
            <a:ext cx="554023" cy="365125"/>
          </a:xfrm>
        </p:spPr>
        <p:txBody>
          <a:bodyPr/>
          <a:lstStyle/>
          <a:p>
            <a:pPr>
              <a:defRPr/>
            </a:pPr>
            <a:fld id="{B19B0651-EE4F-4900-A07F-96A6BFA9D0F0}" type="slidenum">
              <a:rPr lang="ru-RU"/>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userDrawn="1">
  <p:cSld name="Рисунок с подписью">
    <p:spTree>
      <p:nvGrpSpPr>
        <p:cNvPr id="1" name=""/>
        <p:cNvGrpSpPr/>
        <p:nvPr/>
      </p:nvGrpSpPr>
      <p:grpSpPr bwMode="auto">
        <a:xfrm>
          <a:off x="0" y="0"/>
          <a:ext cx="0" cy="0"/>
          <a:chOff x="0" y="0"/>
          <a:chExt cx="0" cy="0"/>
        </a:xfrm>
      </p:grpSpPr>
      <p:grpSp>
        <p:nvGrpSpPr>
          <p:cNvPr id="8" name="Group 15"/>
          <p:cNvGrpSpPr/>
          <p:nvPr/>
        </p:nvGrpSpPr>
        <p:grpSpPr bwMode="auto">
          <a:xfrm>
            <a:off x="0" y="0"/>
            <a:ext cx="9144000" cy="6858000"/>
            <a:chOff x="0" y="0"/>
            <a:chExt cx="9144000" cy="6858000"/>
          </a:xfrm>
        </p:grpSpPr>
        <p:sp>
          <p:nvSpPr>
            <p:cNvPr id="9" name="Rectangle 8"/>
            <p:cNvSpPr/>
            <p:nvPr/>
          </p:nvSpPr>
          <p:spPr bwMode="auto">
            <a:xfrm>
              <a:off x="0" y="0"/>
              <a:ext cx="7162800" cy="6858000"/>
            </a:xfrm>
            <a:prstGeom prst="rect">
              <a:avLst/>
            </a:prstGeom>
            <a:gradFill>
              <a:gsLst>
                <a:gs pos="0">
                  <a:srgbClr val="010101">
                    <a:alpha val="51765"/>
                  </a:srgbClr>
                </a:gs>
                <a:gs pos="60000">
                  <a:srgbClr val="FEFEFE">
                    <a:alpha val="0"/>
                  </a:srgbClr>
                </a:gs>
              </a:gsLst>
              <a:path path="circle"/>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 name="Rectangle 9"/>
            <p:cNvSpPr/>
            <p:nvPr/>
          </p:nvSpPr>
          <p:spPr bwMode="auto">
            <a:xfrm>
              <a:off x="1143000" y="0"/>
              <a:ext cx="8001000" cy="6858000"/>
            </a:xfrm>
            <a:prstGeom prst="rect">
              <a:avLst/>
            </a:prstGeom>
            <a:gradFill>
              <a:gsLst>
                <a:gs pos="0">
                  <a:srgbClr val="010101">
                    <a:alpha val="56000"/>
                  </a:srgbClr>
                </a:gs>
                <a:gs pos="61000">
                  <a:srgbClr val="FEFEFE">
                    <a:alpha val="0"/>
                  </a:srgbClr>
                </a:gs>
              </a:gsLst>
              <a:path path="circle"/>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31" name="Freeform 30"/>
          <p:cNvSpPr/>
          <p:nvPr/>
        </p:nvSpPr>
        <p:spPr bwMode="auto">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extrusionOk="0">
                <a:moveTo>
                  <a:pt x="0" y="495300"/>
                </a:moveTo>
                <a:lnTo>
                  <a:pt x="169546" y="0"/>
                </a:lnTo>
                <a:lnTo>
                  <a:pt x="3966210" y="95250"/>
                </a:lnTo>
                <a:lnTo>
                  <a:pt x="7785734" y="0"/>
                </a:lnTo>
                <a:lnTo>
                  <a:pt x="7955280" y="495300"/>
                </a:lnTo>
                <a:lnTo>
                  <a:pt x="0" y="495300"/>
                </a:lnTo>
                <a:close/>
              </a:path>
            </a:pathLst>
          </a:custGeom>
          <a:gradFill>
            <a:gsLst>
              <a:gs pos="30000">
                <a:srgbClr val="010101">
                  <a:alpha val="34000"/>
                </a:srgbClr>
              </a:gs>
              <a:gs pos="100000">
                <a:srgbClr val="010101">
                  <a:alpha val="26000"/>
                </a:srgbClr>
              </a:gs>
            </a:gsLst>
            <a:path path="circle"/>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 name="Rectangle 11"/>
          <p:cNvSpPr/>
          <p:nvPr/>
        </p:nvSpPr>
        <p:spPr bwMode="auto">
          <a:xfrm rot="21539999">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Rectangle 12"/>
          <p:cNvSpPr/>
          <p:nvPr/>
        </p:nvSpPr>
        <p:spPr bwMode="auto">
          <a:xfrm rot="21539999">
            <a:off x="745058" y="575769"/>
            <a:ext cx="3788941" cy="5722296"/>
          </a:xfrm>
          <a:prstGeom prst="rect">
            <a:avLst/>
          </a:prstGeom>
          <a:blipFill>
            <a:blip r:embed="rId2">
              <a:alphaModFix amt="20000"/>
              <a:grayscl/>
              <a:lum contrast="12000"/>
            </a:blip>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9" name="Rectangle 28"/>
          <p:cNvSpPr/>
          <p:nvPr/>
        </p:nvSpPr>
        <p:spPr bwMode="auto">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0" name="Rectangle 29"/>
          <p:cNvSpPr/>
          <p:nvPr/>
        </p:nvSpPr>
        <p:spPr bwMode="auto">
          <a:xfrm rot="60000">
            <a:off x="4464768" y="603920"/>
            <a:ext cx="3788941" cy="5722296"/>
          </a:xfrm>
          <a:prstGeom prst="rect">
            <a:avLst/>
          </a:prstGeom>
          <a:blipFill>
            <a:blip r:embed="rId2">
              <a:alphaModFix amt="20000"/>
              <a:grayscl/>
              <a:lum contrast="12000"/>
            </a:blip>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14" name="Picture 2" descr="C:\Users\Administrator\Desktop\Pushpin Dev\Assets\pushpinLeft.png"/>
          <p:cNvPicPr>
            <a:picLocks noChangeAspect="1" noChangeArrowheads="1"/>
          </p:cNvPicPr>
          <p:nvPr/>
        </p:nvPicPr>
        <p:blipFill>
          <a:blip r:embed="rId3"/>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a:stretch/>
        </p:blipFill>
        <p:spPr bwMode="auto">
          <a:xfrm rot="4096195">
            <a:off x="6279647" y="333163"/>
            <a:ext cx="566928" cy="566928"/>
          </a:xfrm>
          <a:prstGeom prst="rect">
            <a:avLst/>
          </a:prstGeom>
          <a:noFill/>
        </p:spPr>
      </p:pic>
      <p:sp>
        <p:nvSpPr>
          <p:cNvPr id="2" name="Title 1"/>
          <p:cNvSpPr>
            <a:spLocks noGrp="1"/>
          </p:cNvSpPr>
          <p:nvPr>
            <p:ph type="title"/>
          </p:nvPr>
        </p:nvSpPr>
        <p:spPr bwMode="auto">
          <a:xfrm rot="-60000">
            <a:off x="1106424" y="2020824"/>
            <a:ext cx="3063240" cy="1499616"/>
          </a:xfrm>
        </p:spPr>
        <p:txBody>
          <a:bodyPr anchor="b">
            <a:normAutofit/>
          </a:bodyPr>
          <a:lstStyle>
            <a:lvl1pPr algn="ctr">
              <a:defRPr sz="2400" b="0"/>
            </a:lvl1pPr>
          </a:lstStyle>
          <a:p>
            <a:pPr>
              <a:defRPr/>
            </a:pPr>
            <a:r>
              <a:rPr lang="ru-RU"/>
              <a:t>Образец заголовка</a:t>
            </a:r>
            <a:endParaRPr lang="en-US"/>
          </a:p>
        </p:txBody>
      </p:sp>
      <p:sp>
        <p:nvSpPr>
          <p:cNvPr id="3" name="Picture Placeholder 2"/>
          <p:cNvSpPr>
            <a:spLocks noGrp="1"/>
          </p:cNvSpPr>
          <p:nvPr>
            <p:ph type="pic" idx="1"/>
          </p:nvPr>
        </p:nvSpPr>
        <p:spPr bwMode="auto">
          <a:xfrm rot="60000">
            <a:off x="4898615" y="1207272"/>
            <a:ext cx="2913863" cy="4539412"/>
          </a:xfrm>
          <a:prstGeom prst="rect">
            <a:avLst/>
          </a:prstGeo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ru-RU"/>
              <a:t>Вставка рисунка</a:t>
            </a:r>
            <a:endParaRPr lang="en-US"/>
          </a:p>
        </p:txBody>
      </p:sp>
      <p:sp>
        <p:nvSpPr>
          <p:cNvPr id="4" name="Text Placeholder 3"/>
          <p:cNvSpPr>
            <a:spLocks noGrp="1"/>
          </p:cNvSpPr>
          <p:nvPr>
            <p:ph type="body" sz="half" idx="2"/>
          </p:nvPr>
        </p:nvSpPr>
        <p:spPr bwMode="auto">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ru-RU"/>
              <a:t>Образец текста</a:t>
            </a:r>
            <a:endParaRPr/>
          </a:p>
        </p:txBody>
      </p:sp>
      <p:sp>
        <p:nvSpPr>
          <p:cNvPr id="5" name="Date Placeholder 4"/>
          <p:cNvSpPr>
            <a:spLocks noGrp="1"/>
          </p:cNvSpPr>
          <p:nvPr>
            <p:ph type="dt" sz="half" idx="10"/>
          </p:nvPr>
        </p:nvSpPr>
        <p:spPr bwMode="auto">
          <a:xfrm rot="60000">
            <a:off x="6345936" y="5888737"/>
            <a:ext cx="1213821" cy="365125"/>
          </a:xfrm>
        </p:spPr>
        <p:txBody>
          <a:bodyPr/>
          <a:lstStyle/>
          <a:p>
            <a:pPr>
              <a:defRPr/>
            </a:pPr>
            <a:fld id="{B4C71EC6-210F-42DE-9C53-41977AD35B3D}" type="datetimeFigureOut">
              <a:rPr lang="ru-RU"/>
              <a:t>21.02.2024</a:t>
            </a:fld>
            <a:endParaRPr lang="ru-RU"/>
          </a:p>
        </p:txBody>
      </p:sp>
      <p:sp>
        <p:nvSpPr>
          <p:cNvPr id="6" name="Footer Placeholder 5"/>
          <p:cNvSpPr>
            <a:spLocks noGrp="1"/>
          </p:cNvSpPr>
          <p:nvPr>
            <p:ph type="ftr" sz="quarter" idx="11"/>
          </p:nvPr>
        </p:nvSpPr>
        <p:spPr bwMode="auto">
          <a:xfrm rot="-60000">
            <a:off x="914569" y="5831037"/>
            <a:ext cx="3319043" cy="365125"/>
          </a:xfrm>
        </p:spPr>
        <p:txBody>
          <a:bodyPr/>
          <a:lstStyle/>
          <a:p>
            <a:pPr>
              <a:defRPr/>
            </a:pPr>
            <a:endParaRPr lang="ru-RU"/>
          </a:p>
        </p:txBody>
      </p:sp>
      <p:sp>
        <p:nvSpPr>
          <p:cNvPr id="7" name="Slide Number Placeholder 6"/>
          <p:cNvSpPr>
            <a:spLocks noGrp="1"/>
          </p:cNvSpPr>
          <p:nvPr>
            <p:ph type="sldNum" sz="quarter" idx="12"/>
          </p:nvPr>
        </p:nvSpPr>
        <p:spPr bwMode="auto">
          <a:xfrm rot="60000">
            <a:off x="7562089" y="5900026"/>
            <a:ext cx="554023" cy="365125"/>
          </a:xfrm>
        </p:spPr>
        <p:txBody>
          <a:bodyPr/>
          <a:lstStyle/>
          <a:p>
            <a:pPr>
              <a:defRPr/>
            </a:pPr>
            <a:fld id="{B19B0651-EE4F-4900-A07F-96A6BFA9D0F0}" type="slidenum">
              <a:rPr lang="ru-RU"/>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Заголовок и вертикальный текст">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ru-RU"/>
              <a:t>Образец заголовка</a:t>
            </a:r>
            <a:endParaRPr lang="en-US"/>
          </a:p>
        </p:txBody>
      </p:sp>
      <p:sp>
        <p:nvSpPr>
          <p:cNvPr id="3" name="Vertical Text Placeholder 2"/>
          <p:cNvSpPr>
            <a:spLocks noGrp="1"/>
          </p:cNvSpPr>
          <p:nvPr>
            <p:ph type="body" orient="vert" idx="1"/>
          </p:nvPr>
        </p:nvSpPr>
        <p:spPr bwMode="auto"/>
        <p:txBody>
          <a:bodyPr vert="eaVert" anchor="ct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B4C71EC6-210F-42DE-9C53-41977AD35B3D}" type="datetimeFigureOut">
              <a:rPr lang="ru-RU"/>
              <a:t>21.02.2024</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6" name="Slide Number Placeholder 5"/>
          <p:cNvSpPr>
            <a:spLocks noGrp="1"/>
          </p:cNvSpPr>
          <p:nvPr>
            <p:ph type="sldNum" sz="quarter" idx="12"/>
          </p:nvPr>
        </p:nvSpPr>
        <p:spPr bwMode="auto"/>
        <p:txBody>
          <a:bodyPr/>
          <a:lstStyle/>
          <a:p>
            <a:pPr>
              <a:defRPr/>
            </a:pPr>
            <a:fld id="{B19B0651-EE4F-4900-A07F-96A6BFA9D0F0}" type="slidenum">
              <a:rPr lang="ru-RU"/>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Вертикальный заголовок и текст">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6629401" y="925690"/>
            <a:ext cx="1430867" cy="4763911"/>
          </a:xfrm>
        </p:spPr>
        <p:txBody>
          <a:bodyPr vert="eaVert"/>
          <a:lstStyle>
            <a:lvl1pPr algn="l">
              <a:defRPr/>
            </a:lvl1pPr>
          </a:lstStyle>
          <a:p>
            <a:pPr>
              <a:defRPr/>
            </a:pPr>
            <a:r>
              <a:rPr lang="ru-RU"/>
              <a:t>Образец заголовка</a:t>
            </a:r>
            <a:endParaRPr lang="en-US"/>
          </a:p>
        </p:txBody>
      </p:sp>
      <p:sp>
        <p:nvSpPr>
          <p:cNvPr id="3" name="Vertical Text Placeholder 2"/>
          <p:cNvSpPr>
            <a:spLocks noGrp="1"/>
          </p:cNvSpPr>
          <p:nvPr>
            <p:ph type="body" orient="vert" idx="1"/>
          </p:nvPr>
        </p:nvSpPr>
        <p:spPr bwMode="auto">
          <a:xfrm>
            <a:off x="1298221" y="1106312"/>
            <a:ext cx="5178779" cy="4402667"/>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B4C71EC6-210F-42DE-9C53-41977AD35B3D}" type="datetimeFigureOut">
              <a:rPr lang="ru-RU"/>
              <a:t>21.02.2024</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6" name="Slide Number Placeholder 5"/>
          <p:cNvSpPr>
            <a:spLocks noGrp="1"/>
          </p:cNvSpPr>
          <p:nvPr>
            <p:ph type="sldNum" sz="quarter" idx="12"/>
          </p:nvPr>
        </p:nvSpPr>
        <p:spPr bwMode="auto"/>
        <p:txBody>
          <a:bodyPr/>
          <a:lstStyle/>
          <a:p>
            <a:pPr>
              <a:defRPr/>
            </a:pPr>
            <a:fld id="{B19B0651-EE4F-4900-A07F-96A6BFA9D0F0}" type="slidenum">
              <a:rPr lang="ru-RU"/>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bwMode="auto">
        <a:xfrm>
          <a:off x="0" y="0"/>
          <a:ext cx="0" cy="0"/>
          <a:chOff x="0" y="0"/>
          <a:chExt cx="0" cy="0"/>
        </a:xfrm>
      </p:grpSpPr>
      <p:grpSp>
        <p:nvGrpSpPr>
          <p:cNvPr id="7" name="Group 15"/>
          <p:cNvGrpSpPr/>
          <p:nvPr/>
        </p:nvGrpSpPr>
        <p:grpSpPr bwMode="auto">
          <a:xfrm>
            <a:off x="0" y="0"/>
            <a:ext cx="9144000" cy="6858000"/>
            <a:chOff x="0" y="0"/>
            <a:chExt cx="9144000" cy="6858000"/>
          </a:xfrm>
        </p:grpSpPr>
        <p:sp>
          <p:nvSpPr>
            <p:cNvPr id="8" name="Rectangle 7"/>
            <p:cNvSpPr/>
            <p:nvPr/>
          </p:nvSpPr>
          <p:spPr bwMode="auto">
            <a:xfrm>
              <a:off x="0" y="0"/>
              <a:ext cx="7162800" cy="6858000"/>
            </a:xfrm>
            <a:prstGeom prst="rect">
              <a:avLst/>
            </a:prstGeom>
            <a:gradFill>
              <a:gsLst>
                <a:gs pos="0">
                  <a:srgbClr val="010101">
                    <a:alpha val="51765"/>
                  </a:srgbClr>
                </a:gs>
                <a:gs pos="60000">
                  <a:srgbClr val="FEFEFE">
                    <a:alpha val="0"/>
                  </a:srgbClr>
                </a:gs>
              </a:gsLst>
              <a:path path="circle"/>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Rectangle 8"/>
            <p:cNvSpPr/>
            <p:nvPr/>
          </p:nvSpPr>
          <p:spPr bwMode="auto">
            <a:xfrm>
              <a:off x="1143000" y="0"/>
              <a:ext cx="8001000" cy="6858000"/>
            </a:xfrm>
            <a:prstGeom prst="rect">
              <a:avLst/>
            </a:prstGeom>
            <a:gradFill>
              <a:gsLst>
                <a:gs pos="0">
                  <a:srgbClr val="010101">
                    <a:alpha val="56000"/>
                  </a:srgbClr>
                </a:gs>
                <a:gs pos="61000">
                  <a:srgbClr val="FEFEFE">
                    <a:alpha val="0"/>
                  </a:srgbClr>
                </a:gs>
              </a:gsLst>
              <a:path path="circle"/>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0" name="Freeform 9"/>
          <p:cNvSpPr/>
          <p:nvPr/>
        </p:nvSpPr>
        <p:spPr bwMode="auto">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extrusionOk="0">
                <a:moveTo>
                  <a:pt x="0" y="495300"/>
                </a:moveTo>
                <a:lnTo>
                  <a:pt x="169546" y="0"/>
                </a:lnTo>
                <a:lnTo>
                  <a:pt x="3966210" y="95250"/>
                </a:lnTo>
                <a:lnTo>
                  <a:pt x="7785734" y="0"/>
                </a:lnTo>
                <a:lnTo>
                  <a:pt x="7955280" y="495300"/>
                </a:lnTo>
                <a:lnTo>
                  <a:pt x="0" y="495300"/>
                </a:lnTo>
                <a:close/>
              </a:path>
            </a:pathLst>
          </a:custGeom>
          <a:gradFill>
            <a:gsLst>
              <a:gs pos="30000">
                <a:srgbClr val="010101">
                  <a:alpha val="34000"/>
                </a:srgbClr>
              </a:gs>
              <a:gs pos="100000">
                <a:srgbClr val="010101">
                  <a:alpha val="26000"/>
                </a:srgbClr>
              </a:gs>
            </a:gsLst>
            <a:path path="circle"/>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Rectangle 10"/>
          <p:cNvSpPr/>
          <p:nvPr/>
        </p:nvSpPr>
        <p:spPr bwMode="auto">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 name="Rectangle 11"/>
          <p:cNvSpPr/>
          <p:nvPr/>
        </p:nvSpPr>
        <p:spPr bwMode="auto">
          <a:xfrm>
            <a:off x="731520" y="576072"/>
            <a:ext cx="7696200" cy="5715000"/>
          </a:xfrm>
          <a:prstGeom prst="rect">
            <a:avLst/>
          </a:prstGeom>
          <a:blipFill>
            <a:blip r:embed="rId13">
              <a:alphaModFix amt="20000"/>
              <a:grayscl/>
              <a:lum contrast="12000"/>
            </a:blip>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13" name="Picture 2" descr="C:\Users\Administrator\Desktop\Pushpin Dev\Assets\pushpinLeft.png"/>
          <p:cNvPicPr>
            <a:picLocks noChangeAspect="1" noChangeArrowheads="1"/>
          </p:cNvPicPr>
          <p:nvPr/>
        </p:nvPicPr>
        <p:blipFill>
          <a:blip r:embed="rId14"/>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a:stretch/>
        </p:blipFill>
        <p:spPr bwMode="auto">
          <a:xfrm rot="4096195">
            <a:off x="8115079" y="298163"/>
            <a:ext cx="566928" cy="566928"/>
          </a:xfrm>
          <a:prstGeom prst="rect">
            <a:avLst/>
          </a:prstGeom>
          <a:noFill/>
        </p:spPr>
      </p:pic>
      <p:sp>
        <p:nvSpPr>
          <p:cNvPr id="2" name="Title Placeholder 1"/>
          <p:cNvSpPr>
            <a:spLocks noGrp="1"/>
          </p:cNvSpPr>
          <p:nvPr>
            <p:ph type="title"/>
          </p:nvPr>
        </p:nvSpPr>
        <p:spPr bwMode="auto">
          <a:xfrm>
            <a:off x="1095023" y="817582"/>
            <a:ext cx="6965245" cy="1202485"/>
          </a:xfrm>
          <a:prstGeom prst="rect">
            <a:avLst/>
          </a:prstGeom>
        </p:spPr>
        <p:txBody>
          <a:bodyPr vert="horz" lIns="91440" tIns="45720" rIns="91440" bIns="45720" rtlCol="0" anchor="ctr">
            <a:normAutofit/>
          </a:bodyPr>
          <a:lstStyle/>
          <a:p>
            <a:pPr>
              <a:defRPr/>
            </a:pPr>
            <a:r>
              <a:rPr lang="ru-RU"/>
              <a:t>Образец заголовка</a:t>
            </a:r>
            <a:endParaRPr lang="en-US"/>
          </a:p>
        </p:txBody>
      </p:sp>
      <p:sp>
        <p:nvSpPr>
          <p:cNvPr id="3" name="Text Placeholder 2"/>
          <p:cNvSpPr>
            <a:spLocks noGrp="1"/>
          </p:cNvSpPr>
          <p:nvPr>
            <p:ph type="body" idx="1"/>
          </p:nvPr>
        </p:nvSpPr>
        <p:spPr bwMode="auto">
          <a:xfrm>
            <a:off x="1463040" y="2119257"/>
            <a:ext cx="6196405" cy="3603812"/>
          </a:xfrm>
          <a:prstGeom prst="rect">
            <a:avLst/>
          </a:prstGeom>
        </p:spPr>
        <p:txBody>
          <a:bodyPr vert="horz" lIns="91440" tIns="45720" rIns="91440" bIns="45720" rtlCol="0" anchor="t">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2"/>
          </p:nvPr>
        </p:nvSpPr>
        <p:spPr bwMode="auto">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a:defRPr>
            </a:lvl1pPr>
          </a:lstStyle>
          <a:p>
            <a:pPr>
              <a:defRPr/>
            </a:pPr>
            <a:fld id="{B4C71EC6-210F-42DE-9C53-41977AD35B3D}" type="datetimeFigureOut">
              <a:rPr lang="ru-RU"/>
              <a:t>21.02.2024</a:t>
            </a:fld>
            <a:endParaRPr lang="ru-RU"/>
          </a:p>
        </p:txBody>
      </p:sp>
      <p:sp>
        <p:nvSpPr>
          <p:cNvPr id="5" name="Footer Placeholder 4"/>
          <p:cNvSpPr>
            <a:spLocks noGrp="1"/>
          </p:cNvSpPr>
          <p:nvPr>
            <p:ph type="ftr" sz="quarter" idx="3"/>
          </p:nvPr>
        </p:nvSpPr>
        <p:spPr bwMode="auto">
          <a:xfrm>
            <a:off x="914400" y="5809152"/>
            <a:ext cx="5540188" cy="365125"/>
          </a:xfrm>
          <a:prstGeom prst="rect">
            <a:avLst/>
          </a:prstGeom>
        </p:spPr>
        <p:txBody>
          <a:bodyPr vert="horz" lIns="91440" tIns="45720" rIns="91440" bIns="45720" rtlCol="0" anchor="ctr"/>
          <a:lstStyle>
            <a:lvl1pPr algn="l">
              <a:defRPr sz="1400">
                <a:solidFill>
                  <a:schemeClr val="tx2"/>
                </a:solidFill>
                <a:latin typeface="Rage Italic"/>
              </a:defRPr>
            </a:lvl1pPr>
          </a:lstStyle>
          <a:p>
            <a:pPr>
              <a:defRPr/>
            </a:pPr>
            <a:endParaRPr lang="ru-RU"/>
          </a:p>
        </p:txBody>
      </p:sp>
      <p:sp>
        <p:nvSpPr>
          <p:cNvPr id="6" name="Slide Number Placeholder 5"/>
          <p:cNvSpPr>
            <a:spLocks noGrp="1"/>
          </p:cNvSpPr>
          <p:nvPr>
            <p:ph type="sldNum" sz="quarter" idx="4"/>
          </p:nvPr>
        </p:nvSpPr>
        <p:spPr bwMode="auto">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a:defRPr>
            </a:lvl1pPr>
          </a:lstStyle>
          <a:p>
            <a:pPr>
              <a:defRPr/>
            </a:pPr>
            <a:fld id="{B19B0651-EE4F-4900-A07F-96A6BFA9D0F0}" type="slidenum">
              <a:rPr lang="ru-RU"/>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ts val="0"/>
        </a:spcBef>
        <a:buNone/>
        <a:defRPr sz="4400">
          <a:solidFill>
            <a:schemeClr val="tx1"/>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274320" indent="-274320" algn="l" defTabSz="914400">
        <a:spcBef>
          <a:spcPts val="0"/>
        </a:spcBef>
        <a:buClr>
          <a:schemeClr val="accent2"/>
        </a:buClr>
        <a:buSzPct val="85000"/>
        <a:buFont typeface="Brush Script MT"/>
        <a:buChar char="O"/>
        <a:defRPr sz="2400">
          <a:solidFill>
            <a:schemeClr val="tx1"/>
          </a:solidFill>
          <a:latin typeface="+mn-lt"/>
          <a:ea typeface="+mn-ea"/>
          <a:cs typeface="+mn-cs"/>
        </a:defRPr>
      </a:lvl1pPr>
      <a:lvl2pPr marL="640080" indent="-274320" algn="l" defTabSz="914400">
        <a:spcBef>
          <a:spcPts val="0"/>
        </a:spcBef>
        <a:buClr>
          <a:schemeClr val="accent2"/>
        </a:buClr>
        <a:buSzPct val="85000"/>
        <a:buFont typeface="Brush Script MT"/>
        <a:buChar char="O"/>
        <a:defRPr sz="2200">
          <a:solidFill>
            <a:schemeClr val="tx1"/>
          </a:solidFill>
          <a:latin typeface="+mn-lt"/>
          <a:ea typeface="+mn-ea"/>
          <a:cs typeface="+mn-cs"/>
        </a:defRPr>
      </a:lvl2pPr>
      <a:lvl3pPr marL="914400" indent="-228600" algn="l" defTabSz="914400">
        <a:spcBef>
          <a:spcPts val="0"/>
        </a:spcBef>
        <a:buClr>
          <a:schemeClr val="accent2"/>
        </a:buClr>
        <a:buSzPct val="85000"/>
        <a:buFont typeface="Brush Script MT"/>
        <a:buChar char="O"/>
        <a:defRPr sz="2000">
          <a:solidFill>
            <a:schemeClr val="tx1"/>
          </a:solidFill>
          <a:latin typeface="+mn-lt"/>
          <a:ea typeface="+mn-ea"/>
          <a:cs typeface="+mn-cs"/>
        </a:defRPr>
      </a:lvl3pPr>
      <a:lvl4pPr marL="1280160" indent="-228600" algn="l" defTabSz="914400">
        <a:spcBef>
          <a:spcPts val="0"/>
        </a:spcBef>
        <a:buClr>
          <a:schemeClr val="accent2"/>
        </a:buClr>
        <a:buSzPct val="85000"/>
        <a:buFont typeface="Brush Script MT"/>
        <a:buChar char="O"/>
        <a:defRPr sz="1800">
          <a:solidFill>
            <a:schemeClr val="tx1"/>
          </a:solidFill>
          <a:latin typeface="+mn-lt"/>
          <a:ea typeface="+mn-ea"/>
          <a:cs typeface="+mn-cs"/>
        </a:defRPr>
      </a:lvl4pPr>
      <a:lvl5pPr marL="164592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5pPr>
      <a:lvl6pPr marL="201168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6pPr>
      <a:lvl7pPr marL="237744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7pPr>
      <a:lvl8pPr marL="274320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8pPr>
      <a:lvl9pPr marL="310896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p:txBody>
          <a:bodyPr>
            <a:normAutofit fontScale="90000"/>
          </a:bodyPr>
          <a:lstStyle/>
          <a:p>
            <a:pPr>
              <a:defRPr/>
            </a:pPr>
            <a:r>
              <a:rPr lang="ru-RU"/>
              <a:t>Теоретические основы надёжности</a:t>
            </a:r>
          </a:p>
        </p:txBody>
      </p:sp>
      <p:sp>
        <p:nvSpPr>
          <p:cNvPr id="3" name="Подзаголовок 2"/>
          <p:cNvSpPr>
            <a:spLocks noGrp="1"/>
          </p:cNvSpPr>
          <p:nvPr>
            <p:ph type="subTitle" idx="1"/>
          </p:nvPr>
        </p:nvSpPr>
        <p:spPr bwMode="auto"/>
        <p:txBody>
          <a:bodyPr/>
          <a:lstStyle/>
          <a:p>
            <a:pPr>
              <a:defRPr/>
            </a:pPr>
            <a:r>
              <a:rPr lang="ru-RU"/>
              <a:t>МЕТОДЫ ПОВЫШЕНИЯ НАДЕЖНОСТИ</a:t>
            </a:r>
            <a:endParaRPr/>
          </a:p>
          <a:p>
            <a:pPr>
              <a:defRPr/>
            </a:pPr>
            <a:r>
              <a:rPr lang="ru-RU"/>
              <a:t>ТЕХНИЧЕСКИХ СИСТЕМ</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1403646" y="692696"/>
            <a:ext cx="6696745" cy="5256584"/>
          </a:xfrm>
        </p:spPr>
        <p:txBody>
          <a:bodyPr>
            <a:normAutofit/>
          </a:bodyPr>
          <a:lstStyle/>
          <a:p>
            <a:pPr>
              <a:defRPr/>
            </a:pPr>
            <a:r>
              <a:rPr lang="ru-RU"/>
              <a:t>Все методы повышения надежности принципиально могут быть сведены к следующим основным: </a:t>
            </a:r>
          </a:p>
          <a:p>
            <a:pPr lvl="1">
              <a:defRPr/>
            </a:pPr>
            <a:r>
              <a:rPr lang="ru-RU"/>
              <a:t>Резервирование;</a:t>
            </a:r>
            <a:endParaRPr/>
          </a:p>
          <a:p>
            <a:pPr lvl="1">
              <a:defRPr/>
            </a:pPr>
            <a:r>
              <a:rPr lang="ru-RU"/>
              <a:t>Уменьшение интенсивности отказов системы;</a:t>
            </a:r>
            <a:endParaRPr/>
          </a:p>
          <a:p>
            <a:pPr lvl="1">
              <a:defRPr/>
            </a:pPr>
            <a:r>
              <a:rPr lang="ru-RU"/>
              <a:t>Сокращение времени непрерывной работы;</a:t>
            </a:r>
            <a:endParaRPr/>
          </a:p>
          <a:p>
            <a:pPr lvl="1">
              <a:defRPr/>
            </a:pPr>
            <a:r>
              <a:rPr lang="ru-RU"/>
              <a:t>Уменьшение среднего времени восстановления работоспособного состояния. </a:t>
            </a:r>
          </a:p>
          <a:p>
            <a:pPr>
              <a:defRPr/>
            </a:pPr>
            <a:r>
              <a:rPr lang="ru-RU"/>
              <a:t>Реализация указанных методов может осуществляться  при проектировании, при производстве, при эксплуатации.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548680"/>
            <a:ext cx="7488832" cy="5760640"/>
          </a:xfrm>
        </p:spPr>
        <p:txBody>
          <a:bodyPr>
            <a:normAutofit fontScale="92500"/>
          </a:bodyPr>
          <a:lstStyle/>
          <a:p>
            <a:pPr>
              <a:defRPr/>
            </a:pPr>
            <a:r>
              <a:rPr lang="ru-RU"/>
              <a:t>Резервирование является одним из наиболее эффективных методов повышения надежности  технических систем. Однако , данный метод не всегда оправдан из - за экономических соображений. </a:t>
            </a:r>
          </a:p>
          <a:p>
            <a:pPr>
              <a:defRPr/>
            </a:pPr>
            <a:r>
              <a:rPr lang="ru-RU"/>
              <a:t>Уменьшить интенсивность отказав системы можно следующими способами: </a:t>
            </a:r>
          </a:p>
          <a:p>
            <a:pPr>
              <a:defRPr/>
            </a:pPr>
            <a:r>
              <a:rPr lang="ru-RU"/>
              <a:t>a) упрощение системы;</a:t>
            </a:r>
            <a:endParaRPr/>
          </a:p>
          <a:p>
            <a:pPr>
              <a:defRPr/>
            </a:pPr>
            <a:r>
              <a:rPr lang="ru-RU"/>
              <a:t>b) выбор наиболее надежных элементов;</a:t>
            </a:r>
            <a:endParaRPr/>
          </a:p>
          <a:p>
            <a:pPr>
              <a:defRPr/>
            </a:pPr>
            <a:r>
              <a:rPr lang="ru-RU"/>
              <a:t>c) облегчение электрических, механических, тепловых, и других режимов работы элементов;</a:t>
            </a:r>
            <a:endParaRPr/>
          </a:p>
          <a:p>
            <a:pPr>
              <a:defRPr/>
            </a:pPr>
            <a:r>
              <a:rPr lang="ru-RU"/>
              <a:t>d) стандартизация и унификация элементов и узлов;</a:t>
            </a:r>
            <a:endParaRPr/>
          </a:p>
          <a:p>
            <a:pPr>
              <a:defRPr/>
            </a:pPr>
            <a:r>
              <a:rPr lang="ru-RU"/>
              <a:t>e) совершенствование технологи производства;</a:t>
            </a:r>
            <a:endParaRPr/>
          </a:p>
          <a:p>
            <a:pPr>
              <a:defRPr/>
            </a:pPr>
            <a:r>
              <a:rPr lang="ru-RU"/>
              <a:t>f) автоматизация производства;</a:t>
            </a:r>
            <a:endParaRPr/>
          </a:p>
          <a:p>
            <a:pPr>
              <a:defRPr/>
            </a:pPr>
            <a:r>
              <a:rPr lang="ru-RU"/>
              <a:t>g) проведение профилактических мероприятий при эксплуатации аппаратуры.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548680"/>
            <a:ext cx="7488832" cy="5760640"/>
          </a:xfrm>
        </p:spPr>
        <p:txBody>
          <a:bodyPr>
            <a:normAutofit fontScale="92500"/>
          </a:bodyPr>
          <a:lstStyle/>
          <a:p>
            <a:pPr>
              <a:defRPr/>
            </a:pPr>
            <a:r>
              <a:rPr lang="ru-RU"/>
              <a:t>Наиболее эффективными и многочисленными методами повышения надежности  являются методы, которые применяются при проектировании технических устройств. К таким  методам относятся: </a:t>
            </a:r>
          </a:p>
          <a:p>
            <a:pPr>
              <a:defRPr/>
            </a:pPr>
            <a:r>
              <a:rPr lang="ru-RU"/>
              <a:t>1) резервирование;</a:t>
            </a:r>
            <a:endParaRPr/>
          </a:p>
          <a:p>
            <a:pPr>
              <a:defRPr/>
            </a:pPr>
            <a:r>
              <a:rPr lang="ru-RU"/>
              <a:t>2) упрощение системы;</a:t>
            </a:r>
            <a:endParaRPr/>
          </a:p>
          <a:p>
            <a:pPr>
              <a:defRPr/>
            </a:pPr>
            <a:r>
              <a:rPr lang="ru-RU"/>
              <a:t>3) выбор наиболее надежного  элемента;</a:t>
            </a:r>
            <a:endParaRPr/>
          </a:p>
          <a:p>
            <a:pPr>
              <a:defRPr/>
            </a:pPr>
            <a:r>
              <a:rPr lang="ru-RU"/>
              <a:t>4) создание схем с ограниченными последствиями отказов элементов;</a:t>
            </a:r>
            <a:endParaRPr/>
          </a:p>
          <a:p>
            <a:pPr>
              <a:defRPr/>
            </a:pPr>
            <a:r>
              <a:rPr lang="ru-RU"/>
              <a:t>5) облегчение электрических, механических, тепловых и других режимов работы элементов;</a:t>
            </a:r>
            <a:endParaRPr/>
          </a:p>
          <a:p>
            <a:pPr>
              <a:defRPr/>
            </a:pPr>
            <a:r>
              <a:rPr lang="ru-RU"/>
              <a:t>6) стандартизация и  унификация элементов и узлов;</a:t>
            </a:r>
            <a:endParaRPr/>
          </a:p>
          <a:p>
            <a:pPr>
              <a:defRPr/>
            </a:pPr>
            <a:r>
              <a:rPr lang="ru-RU"/>
              <a:t>7) встроенный контроль;</a:t>
            </a:r>
            <a:endParaRPr/>
          </a:p>
          <a:p>
            <a:pPr>
              <a:defRPr/>
            </a:pPr>
            <a:r>
              <a:rPr lang="ru-RU"/>
              <a:t>8) автоматизация проверок.</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899592" y="836712"/>
            <a:ext cx="7416824" cy="5544616"/>
          </a:xfrm>
        </p:spPr>
        <p:txBody>
          <a:bodyPr>
            <a:normAutofit fontScale="92500" lnSpcReduction="20000"/>
          </a:bodyPr>
          <a:lstStyle/>
          <a:p>
            <a:pPr lvl="0">
              <a:defRPr/>
            </a:pPr>
            <a:r>
              <a:rPr lang="ru-RU"/>
              <a:t>Эффективность этих методов состоит в том , что они принципиально позволяют из малонадежных элементов  строить надежные системы. Уменьшить  интенсивность отказов, уменьшить    средне время  восстановления и время непрерывной работы системы. </a:t>
            </a:r>
            <a:endParaRPr/>
          </a:p>
          <a:p>
            <a:pPr lvl="0">
              <a:defRPr/>
            </a:pPr>
            <a:r>
              <a:rPr lang="ru-RU"/>
              <a:t>Повысить надежность аппаратуры в процессе ее эксплуатации чрезвычайно трудно. Это объясняется тем, что надежность системы в основном закладывается при ее проектировании и изготовлении, а при эксплуатации надежность только расходуется. Скорость ее расхода зависит от методов эксплуатации, квалификации обслуживающего персонала, условий эксплуатации. </a:t>
            </a:r>
            <a:endParaRPr/>
          </a:p>
          <a:p>
            <a:pPr lvl="0">
              <a:defRPr/>
            </a:pPr>
            <a:r>
              <a:rPr lang="ru-RU"/>
              <a:t>Задача инженера эксплуатационника состоит </a:t>
            </a:r>
            <a:r>
              <a:rPr lang="ru-RU" i="1"/>
              <a:t>не в повышении надежности системы</a:t>
            </a:r>
            <a:r>
              <a:rPr lang="ru-RU"/>
              <a:t>, а в том , чтобы как можно дольше </a:t>
            </a:r>
            <a:r>
              <a:rPr lang="ru-RU" i="1"/>
              <a:t>сохранить надежность аппаратуры</a:t>
            </a:r>
            <a:r>
              <a:rPr lang="ru-RU"/>
              <a:t>, заложенную в процессе ее проектирования и изготовления.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620688"/>
            <a:ext cx="7632848" cy="5616624"/>
          </a:xfrm>
        </p:spPr>
        <p:txBody>
          <a:bodyPr/>
          <a:lstStyle/>
          <a:p>
            <a:pPr>
              <a:defRPr/>
            </a:pPr>
            <a:r>
              <a:rPr lang="ru-RU"/>
              <a:t>В месте с тем при правильной организации эксплуатации удается повысить надежность аппаратуры. </a:t>
            </a:r>
          </a:p>
          <a:p>
            <a:pPr>
              <a:defRPr/>
            </a:pPr>
            <a:r>
              <a:rPr lang="ru-RU"/>
              <a:t>Если профилактические мероприятия предупреждают отказы, то это аналогично уменьшению интенсивности  отказов системы. </a:t>
            </a:r>
          </a:p>
          <a:p>
            <a:pPr>
              <a:defRPr/>
            </a:pPr>
            <a:r>
              <a:rPr lang="ru-RU"/>
              <a:t>Разница состоит лишь в том, что здесь надежность элементов фактически не повышается, как это имеет место при проектировании и изготовлении, а своевременно происходит смена или ремонт еще не отказавших элементов, вероятность отказов которых сильно возросла.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1043608" y="764704"/>
            <a:ext cx="7056784" cy="5256584"/>
          </a:xfrm>
        </p:spPr>
        <p:txBody>
          <a:bodyPr/>
          <a:lstStyle/>
          <a:p>
            <a:pPr>
              <a:defRPr/>
            </a:pPr>
            <a:r>
              <a:rPr lang="ru-RU"/>
              <a:t>Эксплуатация оказывает очень сильное влияние на проектирование и изготовление вновь разрабатываемой аппаратуры. Это объясняется тем, что данные об отказах аппаратуры, полученные при ее эксплуатации, полностью характеризуют ее надежность и поэтому являются часто исходными данными при проектировании высоконадежной аппаратуры подобного типа.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Объект 1"/>
          <p:cNvSpPr>
            <a:spLocks noGrp="1"/>
          </p:cNvSpPr>
          <p:nvPr>
            <p:ph idx="1"/>
          </p:nvPr>
        </p:nvSpPr>
        <p:spPr bwMode="auto">
          <a:xfrm>
            <a:off x="827584" y="620688"/>
            <a:ext cx="7488832" cy="5616624"/>
          </a:xfrm>
        </p:spPr>
        <p:txBody>
          <a:bodyPr>
            <a:normAutofit/>
          </a:bodyPr>
          <a:lstStyle/>
          <a:p>
            <a:pPr>
              <a:defRPr/>
            </a:pPr>
            <a:r>
              <a:rPr lang="ru-RU" b="1"/>
              <a:t>Резервирование как средство повышения надежности.</a:t>
            </a:r>
            <a:endParaRPr/>
          </a:p>
          <a:p>
            <a:pPr>
              <a:defRPr/>
            </a:pPr>
            <a:r>
              <a:rPr lang="ru-RU"/>
              <a:t>В настоящее время резервирование является одним из самых распространенных способов повышения характеристик надежности систем. Однако этот метод ведет к усложнению систем, увеличению их массы , стоимости и габаритов.  </a:t>
            </a:r>
          </a:p>
          <a:p>
            <a:pPr>
              <a:defRPr/>
            </a:pPr>
            <a:r>
              <a:rPr lang="ru-RU"/>
              <a:t>Поэтому всегда разработчики и конструкторы сталкиваются с задачей как при допустимой массе, стоимости и габаритах получить максимальный выигрыш в надежности.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Объект 1"/>
          <p:cNvSpPr>
            <a:spLocks noGrp="1"/>
          </p:cNvSpPr>
          <p:nvPr>
            <p:ph idx="1"/>
          </p:nvPr>
        </p:nvSpPr>
        <p:spPr bwMode="auto">
          <a:xfrm>
            <a:off x="827584" y="620688"/>
            <a:ext cx="7488832" cy="5616624"/>
          </a:xfrm>
        </p:spPr>
        <p:txBody>
          <a:bodyPr>
            <a:normAutofit/>
          </a:bodyPr>
          <a:lstStyle/>
          <a:p>
            <a:pPr>
              <a:defRPr/>
            </a:pPr>
            <a:r>
              <a:rPr lang="ru-RU"/>
              <a:t>Для оценки эффективности резервирования вводится понятие – выигрыш надежности резервированной системы по сравнению с нерезервированной: </a:t>
            </a:r>
          </a:p>
        </p:txBody>
      </p:sp>
      <p:pic>
        <p:nvPicPr>
          <p:cNvPr id="1026" name="Picture 2"/>
          <p:cNvPicPr>
            <a:picLocks noChangeAspect="1" noChangeArrowheads="1"/>
          </p:cNvPicPr>
          <p:nvPr/>
        </p:nvPicPr>
        <p:blipFill>
          <a:blip r:embed="rId3"/>
          <a:stretch/>
        </p:blipFill>
        <p:spPr bwMode="auto">
          <a:xfrm>
            <a:off x="2624138" y="2349376"/>
            <a:ext cx="3895725" cy="1066800"/>
          </a:xfrm>
          <a:prstGeom prst="rect">
            <a:avLst/>
          </a:prstGeom>
          <a:noFill/>
          <a:ln>
            <a:noFill/>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Объект 1"/>
          <p:cNvSpPr>
            <a:spLocks noGrp="1"/>
          </p:cNvSpPr>
          <p:nvPr>
            <p:ph idx="1"/>
          </p:nvPr>
        </p:nvSpPr>
        <p:spPr bwMode="auto"/>
        <p:txBody>
          <a:bodyPr/>
          <a:lstStyle/>
          <a:p>
            <a:pPr>
              <a:defRPr/>
            </a:pPr>
            <a:endParaRPr lang="ru-RU"/>
          </a:p>
        </p:txBody>
      </p:sp>
      <p:pic>
        <p:nvPicPr>
          <p:cNvPr id="2050" name="Picture 2"/>
          <p:cNvPicPr>
            <a:picLocks noChangeAspect="1" noChangeArrowheads="1"/>
          </p:cNvPicPr>
          <p:nvPr/>
        </p:nvPicPr>
        <p:blipFill>
          <a:blip r:embed="rId3"/>
          <a:stretch/>
        </p:blipFill>
        <p:spPr bwMode="auto">
          <a:xfrm>
            <a:off x="683568" y="1295028"/>
            <a:ext cx="7928283" cy="4752528"/>
          </a:xfrm>
          <a:prstGeom prst="rect">
            <a:avLst/>
          </a:prstGeom>
          <a:noFill/>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a:bodyPr>
          <a:lstStyle/>
          <a:p>
            <a:pPr marL="0" indent="0">
              <a:buNone/>
              <a:defRPr/>
            </a:pPr>
            <a:r>
              <a:rPr lang="ru-RU"/>
              <a:t>Уменьшение интенсивности отказов  может привести к существенному повышению надежности системы. Вероятность безотказной работы системы, интенсивность отказов  которой уменьшена в k раз, равна:</a:t>
            </a:r>
            <a:endParaRPr/>
          </a:p>
          <a:p>
            <a:pPr marL="0" indent="0">
              <a:buNone/>
              <a:defRPr/>
            </a:pPr>
            <a:endParaRPr lang="ru-RU"/>
          </a:p>
          <a:p>
            <a:pPr marL="0" indent="0">
              <a:buNone/>
              <a:defRPr/>
            </a:pPr>
            <a:endParaRPr lang="ru-RU"/>
          </a:p>
          <a:p>
            <a:pPr marL="0" indent="0">
              <a:buNone/>
              <a:defRPr/>
            </a:pPr>
            <a:r>
              <a:rPr lang="ru-RU"/>
              <a:t>Выигрыш надежности в данном случае определяется выражением: </a:t>
            </a:r>
          </a:p>
        </p:txBody>
      </p:sp>
      <p:pic>
        <p:nvPicPr>
          <p:cNvPr id="3074" name="Picture 2"/>
          <p:cNvPicPr>
            <a:picLocks noChangeAspect="1" noChangeArrowheads="1"/>
          </p:cNvPicPr>
          <p:nvPr/>
        </p:nvPicPr>
        <p:blipFill>
          <a:blip r:embed="rId2"/>
          <a:stretch/>
        </p:blipFill>
        <p:spPr bwMode="auto">
          <a:xfrm>
            <a:off x="3419872" y="2749550"/>
            <a:ext cx="2142935" cy="847488"/>
          </a:xfrm>
          <a:prstGeom prst="rect">
            <a:avLst/>
          </a:prstGeom>
          <a:noFill/>
          <a:ln>
            <a:noFill/>
          </a:ln>
          <a:effectLst/>
        </p:spPr>
      </p:pic>
      <p:pic>
        <p:nvPicPr>
          <p:cNvPr id="3075" name="Picture 3"/>
          <p:cNvPicPr>
            <a:picLocks noChangeAspect="1" noChangeArrowheads="1"/>
          </p:cNvPicPr>
          <p:nvPr/>
        </p:nvPicPr>
        <p:blipFill>
          <a:blip r:embed="rId3"/>
          <a:stretch/>
        </p:blipFill>
        <p:spPr bwMode="auto">
          <a:xfrm>
            <a:off x="3424311" y="4348163"/>
            <a:ext cx="2138495" cy="1928643"/>
          </a:xfrm>
          <a:prstGeom prst="rect">
            <a:avLst/>
          </a:prstGeom>
          <a:noFill/>
          <a:ln>
            <a:noFill/>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Объект 1"/>
          <p:cNvSpPr>
            <a:spLocks noGrp="1"/>
          </p:cNvSpPr>
          <p:nvPr>
            <p:ph idx="1"/>
          </p:nvPr>
        </p:nvSpPr>
        <p:spPr bwMode="auto"/>
        <p:txBody>
          <a:bodyPr/>
          <a:lstStyle/>
          <a:p>
            <a:pPr>
              <a:defRPr/>
            </a:pPr>
            <a:endParaRPr lang="ru-RU"/>
          </a:p>
        </p:txBody>
      </p:sp>
      <p:pic>
        <p:nvPicPr>
          <p:cNvPr id="4098" name="Picture 2"/>
          <p:cNvPicPr>
            <a:picLocks noChangeAspect="1" noChangeArrowheads="1"/>
          </p:cNvPicPr>
          <p:nvPr/>
        </p:nvPicPr>
        <p:blipFill>
          <a:blip r:embed="rId3"/>
          <a:stretch/>
        </p:blipFill>
        <p:spPr bwMode="auto">
          <a:xfrm>
            <a:off x="611560" y="1196752"/>
            <a:ext cx="7857436" cy="4824536"/>
          </a:xfrm>
          <a:prstGeom prst="rect">
            <a:avLst/>
          </a:prstGeom>
          <a:noFill/>
          <a:ln>
            <a:noFill/>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683568" y="548680"/>
            <a:ext cx="7704856" cy="5760640"/>
          </a:xfrm>
        </p:spPr>
        <p:txBody>
          <a:bodyPr>
            <a:noAutofit/>
          </a:bodyPr>
          <a:lstStyle/>
          <a:p>
            <a:pPr lvl="0">
              <a:defRPr/>
            </a:pPr>
            <a:r>
              <a:rPr lang="ru-RU" sz="2800"/>
              <a:t>Эффективными методами понижения интенсивности отказов систем являются: </a:t>
            </a:r>
          </a:p>
          <a:p>
            <a:pPr lvl="1">
              <a:defRPr/>
            </a:pPr>
            <a:r>
              <a:rPr lang="ru-RU"/>
              <a:t>Применение наиболее надежных элементов;</a:t>
            </a:r>
            <a:endParaRPr/>
          </a:p>
          <a:p>
            <a:pPr lvl="1">
              <a:defRPr/>
            </a:pPr>
            <a:r>
              <a:rPr lang="ru-RU"/>
              <a:t>Отбраковка («выжигание») малонадежных элементов;</a:t>
            </a:r>
            <a:endParaRPr/>
          </a:p>
          <a:p>
            <a:pPr lvl="1">
              <a:defRPr/>
            </a:pPr>
            <a:r>
              <a:rPr lang="ru-RU"/>
              <a:t>Облегчение режимов работы элементов</a:t>
            </a:r>
            <a:r>
              <a:rPr lang="en-US"/>
              <a:t>.</a:t>
            </a:r>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 name="Объект 2"/>
          <p:cNvSpPr txBox="1"/>
          <p:nvPr/>
        </p:nvSpPr>
        <p:spPr bwMode="auto">
          <a:xfrm>
            <a:off x="907976" y="692696"/>
            <a:ext cx="7264424" cy="5472608"/>
          </a:xfrm>
          <a:prstGeom prst="rect">
            <a:avLst/>
          </a:prstGeom>
        </p:spPr>
        <p:txBody>
          <a:bodyPr vert="horz" lIns="91440" tIns="45720" rIns="91440" bIns="45720" rtlCol="0" anchor="t">
            <a:noAutofit/>
          </a:bodyPr>
          <a:lstStyle>
            <a:lvl1pPr marL="274320" indent="-274320" algn="l" defTabSz="914400">
              <a:spcBef>
                <a:spcPts val="0"/>
              </a:spcBef>
              <a:buClr>
                <a:schemeClr val="accent2"/>
              </a:buClr>
              <a:buSzPct val="85000"/>
              <a:buFont typeface="Brush Script MT"/>
              <a:buChar char="O"/>
              <a:defRPr sz="2400">
                <a:solidFill>
                  <a:schemeClr val="tx1"/>
                </a:solidFill>
                <a:latin typeface="+mn-lt"/>
                <a:ea typeface="+mn-ea"/>
                <a:cs typeface="+mn-cs"/>
              </a:defRPr>
            </a:lvl1pPr>
            <a:lvl2pPr marL="640080" indent="-274320" algn="l" defTabSz="914400">
              <a:spcBef>
                <a:spcPts val="0"/>
              </a:spcBef>
              <a:buClr>
                <a:schemeClr val="accent2"/>
              </a:buClr>
              <a:buSzPct val="85000"/>
              <a:buFont typeface="Brush Script MT"/>
              <a:buChar char="O"/>
              <a:defRPr sz="2200">
                <a:solidFill>
                  <a:schemeClr val="tx1"/>
                </a:solidFill>
                <a:latin typeface="+mn-lt"/>
                <a:ea typeface="+mn-ea"/>
                <a:cs typeface="+mn-cs"/>
              </a:defRPr>
            </a:lvl2pPr>
            <a:lvl3pPr marL="914400" indent="-228600" algn="l" defTabSz="914400">
              <a:spcBef>
                <a:spcPts val="0"/>
              </a:spcBef>
              <a:buClr>
                <a:schemeClr val="accent2"/>
              </a:buClr>
              <a:buSzPct val="85000"/>
              <a:buFont typeface="Brush Script MT"/>
              <a:buChar char="O"/>
              <a:defRPr sz="2000">
                <a:solidFill>
                  <a:schemeClr val="tx1"/>
                </a:solidFill>
                <a:latin typeface="+mn-lt"/>
                <a:ea typeface="+mn-ea"/>
                <a:cs typeface="+mn-cs"/>
              </a:defRPr>
            </a:lvl3pPr>
            <a:lvl4pPr marL="1280160" indent="-228600" algn="l" defTabSz="914400">
              <a:spcBef>
                <a:spcPts val="0"/>
              </a:spcBef>
              <a:buClr>
                <a:schemeClr val="accent2"/>
              </a:buClr>
              <a:buSzPct val="85000"/>
              <a:buFont typeface="Brush Script MT"/>
              <a:buChar char="O"/>
              <a:defRPr sz="1800">
                <a:solidFill>
                  <a:schemeClr val="tx1"/>
                </a:solidFill>
                <a:latin typeface="+mn-lt"/>
                <a:ea typeface="+mn-ea"/>
                <a:cs typeface="+mn-cs"/>
              </a:defRPr>
            </a:lvl4pPr>
            <a:lvl5pPr marL="164592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5pPr>
            <a:lvl6pPr marL="201168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6pPr>
            <a:lvl7pPr marL="237744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7pPr>
            <a:lvl8pPr marL="274320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8pPr>
            <a:lvl9pPr marL="3108960" indent="-228600" algn="l" defTabSz="914400">
              <a:spcBef>
                <a:spcPts val="0"/>
              </a:spcBef>
              <a:buClr>
                <a:schemeClr val="accent2"/>
              </a:buClr>
              <a:buSzPct val="85000"/>
              <a:buFont typeface="Brush Script MT"/>
              <a:buChar char="O"/>
              <a:defRPr sz="1600">
                <a:solidFill>
                  <a:schemeClr val="tx1"/>
                </a:solidFill>
                <a:latin typeface="+mn-lt"/>
                <a:ea typeface="+mn-ea"/>
                <a:cs typeface="+mn-cs"/>
              </a:defRPr>
            </a:lvl9pPr>
          </a:lstStyle>
          <a:p>
            <a:pPr>
              <a:defRPr/>
            </a:pPr>
            <a:r>
              <a:rPr lang="ru-RU" b="1"/>
              <a:t>Отбраковка («выжигание») малонадежных элементов</a:t>
            </a:r>
            <a:r>
              <a:rPr lang="en-US" b="1"/>
              <a:t>.</a:t>
            </a:r>
            <a:endParaRPr/>
          </a:p>
          <a:p>
            <a:pPr>
              <a:defRPr/>
            </a:pPr>
            <a:r>
              <a:rPr lang="ru-RU" sz="2000"/>
              <a:t>Уменьшить интенсивность отказов можно путем отбраковки, или «выжигания»  эле-ментов, имеющих конструктивные и производственные дефекты. С этой целью осуществляется тренировка элементов системы в тяжелых условиях работы. Идея метода состоит в исключении начального участка λ – характеристики</a:t>
            </a:r>
            <a:r>
              <a:rPr lang="en-US" sz="2000"/>
              <a:t>:</a:t>
            </a:r>
            <a:endParaRPr lang="ru-RU" sz="2000"/>
          </a:p>
        </p:txBody>
      </p:sp>
      <p:pic>
        <p:nvPicPr>
          <p:cNvPr id="5122" name="Picture 2"/>
          <p:cNvPicPr>
            <a:picLocks noChangeAspect="1" noChangeArrowheads="1"/>
          </p:cNvPicPr>
          <p:nvPr/>
        </p:nvPicPr>
        <p:blipFill>
          <a:blip r:embed="rId3"/>
          <a:stretch/>
        </p:blipFill>
        <p:spPr bwMode="auto">
          <a:xfrm>
            <a:off x="2019908" y="3491286"/>
            <a:ext cx="5040560" cy="2674018"/>
          </a:xfrm>
          <a:prstGeom prst="rect">
            <a:avLst/>
          </a:prstGeom>
          <a:noFill/>
          <a:ln>
            <a:noFill/>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827584" y="620688"/>
            <a:ext cx="7416824" cy="5544616"/>
          </a:xfrm>
        </p:spPr>
        <p:txBody>
          <a:bodyPr>
            <a:normAutofit/>
          </a:bodyPr>
          <a:lstStyle/>
          <a:p>
            <a:pPr lvl="1">
              <a:defRPr/>
            </a:pPr>
            <a:r>
              <a:rPr lang="ru-RU" b="1"/>
              <a:t>Сокращение времени непрерывной работы. </a:t>
            </a:r>
            <a:endParaRPr lang="en-US" b="1"/>
          </a:p>
          <a:p>
            <a:pPr lvl="1">
              <a:defRPr/>
            </a:pPr>
            <a:r>
              <a:rPr lang="ru-RU"/>
              <a:t>При эксплуатации с течением времени надежность аппаратуры (ТУ) теряется. </a:t>
            </a:r>
            <a:endParaRPr lang="en-US"/>
          </a:p>
          <a:p>
            <a:pPr lvl="1">
              <a:defRPr/>
            </a:pPr>
            <a:r>
              <a:rPr lang="ru-RU"/>
              <a:t>Уменьшая суммарное время работы ТУ, можно тем самым увеличить время ее существования в исправном состоянии. Этот способ позволяет лишь разумно расходовать надежность. Сохранить надежность системы путем сокращения времени ее непрерывной работы можно лишь в том случае, если число включений и выключений мало. </a:t>
            </a:r>
            <a:endParaRPr lang="en-US"/>
          </a:p>
          <a:p>
            <a:pPr lvl="1">
              <a:defRPr/>
            </a:pPr>
            <a:r>
              <a:rPr lang="ru-RU"/>
              <a:t>Рассмотрим 2 системы при непрерывной и дискретной работе: </a:t>
            </a:r>
          </a:p>
        </p:txBody>
      </p:sp>
      <p:pic>
        <p:nvPicPr>
          <p:cNvPr id="6146" name="Picture 2"/>
          <p:cNvPicPr>
            <a:picLocks noChangeAspect="1" noChangeArrowheads="1"/>
          </p:cNvPicPr>
          <p:nvPr/>
        </p:nvPicPr>
        <p:blipFill>
          <a:blip r:embed="rId3"/>
          <a:stretch/>
        </p:blipFill>
        <p:spPr bwMode="auto">
          <a:xfrm>
            <a:off x="2123728" y="5323779"/>
            <a:ext cx="4974937" cy="682377"/>
          </a:xfrm>
          <a:prstGeom prst="rect">
            <a:avLst/>
          </a:prstGeom>
          <a:noFill/>
          <a:ln>
            <a:noFill/>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971599" y="764704"/>
            <a:ext cx="7128792" cy="5328591"/>
          </a:xfrm>
        </p:spPr>
        <p:txBody>
          <a:bodyPr>
            <a:normAutofit/>
          </a:bodyPr>
          <a:lstStyle/>
          <a:p>
            <a:pPr>
              <a:defRPr/>
            </a:pPr>
            <a:r>
              <a:rPr lang="ru-RU"/>
              <a:t>Тогда выигрыш по вероятности отказов определяется:</a:t>
            </a:r>
            <a:endParaRPr lang="en-US"/>
          </a:p>
          <a:p>
            <a:pPr>
              <a:defRPr/>
            </a:pPr>
            <a:endParaRPr lang="en-US"/>
          </a:p>
          <a:p>
            <a:pPr>
              <a:defRPr/>
            </a:pPr>
            <a:endParaRPr lang="en-US"/>
          </a:p>
          <a:p>
            <a:pPr>
              <a:defRPr/>
            </a:pPr>
            <a:endParaRPr lang="en-US"/>
          </a:p>
          <a:p>
            <a:pPr>
              <a:defRPr/>
            </a:pPr>
            <a:endParaRPr lang="en-US"/>
          </a:p>
          <a:p>
            <a:pPr>
              <a:defRPr/>
            </a:pPr>
            <a:r>
              <a:rPr lang="ru-RU"/>
              <a:t>Т.е. сокращение времени непрерывной работы эквивалентно уменьшению в то же число раз интенсивности отказов системы.</a:t>
            </a:r>
            <a:endParaRPr lang="en-US"/>
          </a:p>
          <a:p>
            <a:pPr>
              <a:defRPr/>
            </a:pPr>
            <a:r>
              <a:rPr lang="ru-RU"/>
              <a:t>Особенно большой эффект</a:t>
            </a:r>
            <a:r>
              <a:rPr lang="en-US"/>
              <a:t> </a:t>
            </a:r>
            <a:r>
              <a:rPr lang="ru-RU"/>
              <a:t>дает сокращение времени непрерывной работы резервированной системы</a:t>
            </a:r>
          </a:p>
        </p:txBody>
      </p:sp>
      <p:pic>
        <p:nvPicPr>
          <p:cNvPr id="7171" name="Picture 3"/>
          <p:cNvPicPr>
            <a:picLocks noChangeAspect="1" noChangeArrowheads="1"/>
          </p:cNvPicPr>
          <p:nvPr/>
        </p:nvPicPr>
        <p:blipFill>
          <a:blip r:embed="rId2"/>
          <a:stretch/>
        </p:blipFill>
        <p:spPr bwMode="auto">
          <a:xfrm>
            <a:off x="3275856" y="1727856"/>
            <a:ext cx="1828973" cy="1281721"/>
          </a:xfrm>
          <a:prstGeom prst="rect">
            <a:avLst/>
          </a:prstGeom>
          <a:noFill/>
          <a:ln>
            <a:noFill/>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827584" y="692696"/>
            <a:ext cx="7560840" cy="5544616"/>
          </a:xfrm>
        </p:spPr>
        <p:txBody>
          <a:bodyPr>
            <a:normAutofit/>
          </a:bodyPr>
          <a:lstStyle/>
          <a:p>
            <a:pPr>
              <a:defRPr/>
            </a:pPr>
            <a:endParaRPr lang="ru-RU"/>
          </a:p>
        </p:txBody>
      </p:sp>
      <p:pic>
        <p:nvPicPr>
          <p:cNvPr id="8194" name="Picture 2"/>
          <p:cNvPicPr>
            <a:picLocks noChangeAspect="1" noChangeArrowheads="1"/>
          </p:cNvPicPr>
          <p:nvPr/>
        </p:nvPicPr>
        <p:blipFill>
          <a:blip r:embed="rId3"/>
          <a:stretch/>
        </p:blipFill>
        <p:spPr bwMode="auto">
          <a:xfrm>
            <a:off x="827584" y="1052736"/>
            <a:ext cx="7564655" cy="4176464"/>
          </a:xfrm>
          <a:prstGeom prst="rect">
            <a:avLst/>
          </a:prstGeom>
          <a:noFill/>
          <a:ln>
            <a:noFill/>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827584" y="692696"/>
            <a:ext cx="7632848" cy="5616624"/>
          </a:xfrm>
        </p:spPr>
        <p:txBody>
          <a:bodyPr>
            <a:normAutofit fontScale="92500" lnSpcReduction="20000"/>
          </a:bodyPr>
          <a:lstStyle/>
          <a:p>
            <a:pPr>
              <a:defRPr/>
            </a:pPr>
            <a:r>
              <a:rPr lang="ru-RU" b="1"/>
              <a:t>Методы обеспечения требуемых показателей надежности техники на этапе эксплуатации. </a:t>
            </a:r>
          </a:p>
          <a:p>
            <a:pPr>
              <a:defRPr/>
            </a:pPr>
            <a:r>
              <a:rPr lang="ru-RU"/>
              <a:t>Влияние периодичности и объема профилактических мероприятий.</a:t>
            </a:r>
            <a:endParaRPr/>
          </a:p>
          <a:p>
            <a:pPr>
              <a:defRPr/>
            </a:pPr>
            <a:r>
              <a:rPr lang="ru-RU"/>
              <a:t>Важное место среди мероприятий по повышению надежности при эксплуатации оборудования сложных систем отводится техническому обслуживанию (ТО). Под ТО понимается комплекс организационных и технических мероприятий, направленных на предупреждение отказов. К основным задачам ТО относятся предупреждение  ускоренного износа, коррозии и старения, поддержания основных характеристик оборудования на заданном уровне. Основу ТО составляют профилактические работы и регламентные проверки. Профилактические работы проводятся периодически с целью выявления ненадежных, неисправных элементов, а также для устранения причин, способствующих возникновению отказов.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899592" y="692696"/>
            <a:ext cx="7344816" cy="5472608"/>
          </a:xfrm>
        </p:spPr>
        <p:txBody>
          <a:bodyPr>
            <a:normAutofit/>
          </a:bodyPr>
          <a:lstStyle/>
          <a:p>
            <a:pPr>
              <a:defRPr/>
            </a:pPr>
            <a:endParaRPr lang="ru-RU"/>
          </a:p>
        </p:txBody>
      </p:sp>
      <p:pic>
        <p:nvPicPr>
          <p:cNvPr id="9218" name="Picture 2"/>
          <p:cNvPicPr>
            <a:picLocks noChangeAspect="1" noChangeArrowheads="1"/>
          </p:cNvPicPr>
          <p:nvPr/>
        </p:nvPicPr>
        <p:blipFill>
          <a:blip r:embed="rId3"/>
          <a:stretch/>
        </p:blipFill>
        <p:spPr bwMode="auto">
          <a:xfrm>
            <a:off x="827584" y="1268760"/>
            <a:ext cx="7488832" cy="4162091"/>
          </a:xfrm>
          <a:prstGeom prst="rect">
            <a:avLst/>
          </a:prstGeom>
          <a:noFill/>
          <a:ln>
            <a:noFill/>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1043608" y="764704"/>
            <a:ext cx="7200800" cy="5256584"/>
          </a:xfrm>
        </p:spPr>
        <p:txBody>
          <a:bodyPr>
            <a:normAutofit/>
          </a:bodyPr>
          <a:lstStyle/>
          <a:p>
            <a:pPr>
              <a:defRPr/>
            </a:pPr>
            <a:r>
              <a:rPr lang="ru-RU"/>
              <a:t>Периодичность профилактики (ТО) назначают, исходя из следующих соображений: </a:t>
            </a:r>
            <a:endParaRPr/>
          </a:p>
          <a:p>
            <a:pPr>
              <a:defRPr/>
            </a:pPr>
            <a:r>
              <a:rPr lang="ru-RU"/>
              <a:t>При нормальном периоде эксплуатации время профилактики выбирается, чтобы </a:t>
            </a:r>
          </a:p>
        </p:txBody>
      </p:sp>
      <p:pic>
        <p:nvPicPr>
          <p:cNvPr id="10242" name="Picture 2"/>
          <p:cNvPicPr>
            <a:picLocks noChangeAspect="1" noChangeArrowheads="1"/>
          </p:cNvPicPr>
          <p:nvPr/>
        </p:nvPicPr>
        <p:blipFill>
          <a:blip r:embed="rId2"/>
          <a:stretch/>
        </p:blipFill>
        <p:spPr bwMode="auto">
          <a:xfrm>
            <a:off x="2667000" y="2852936"/>
            <a:ext cx="3810000" cy="2038349"/>
          </a:xfrm>
          <a:prstGeom prst="rect">
            <a:avLst/>
          </a:prstGeom>
          <a:noFill/>
          <a:ln>
            <a:noFill/>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1043608" y="764704"/>
            <a:ext cx="7200800" cy="5256584"/>
          </a:xfrm>
        </p:spPr>
        <p:txBody>
          <a:bodyPr>
            <a:normAutofit fontScale="92500" lnSpcReduction="10000"/>
          </a:bodyPr>
          <a:lstStyle/>
          <a:p>
            <a:pPr>
              <a:defRPr/>
            </a:pPr>
            <a:r>
              <a:rPr lang="ru-RU" b="1"/>
              <a:t>Расчет количества запасных невосстанавливаемых элементов.</a:t>
            </a:r>
            <a:endParaRPr/>
          </a:p>
          <a:p>
            <a:pPr>
              <a:defRPr/>
            </a:pPr>
            <a:r>
              <a:rPr lang="ru-RU"/>
              <a:t>Для обеспечения возможности быстрого восстановления ТУ путем замены комплектующих элементов необходимо иметь запасные элементы в количестве Z, не меньшем, чем ожидаемое количество отказов n</a:t>
            </a:r>
            <a:r>
              <a:rPr lang="ru-RU" sz="1400"/>
              <a:t>от</a:t>
            </a:r>
            <a:r>
              <a:rPr lang="ru-RU"/>
              <a:t> за определенное время t. Математическим языком это выражается так:</a:t>
            </a:r>
            <a:r>
              <a:rPr lang="en-US">
                <a:latin typeface="Arial"/>
                <a:cs typeface="Arial"/>
              </a:rPr>
              <a:t> Z≥n</a:t>
            </a:r>
            <a:r>
              <a:rPr lang="en-US" sz="1400">
                <a:latin typeface="Arial"/>
                <a:cs typeface="Arial"/>
              </a:rPr>
              <a:t>ot</a:t>
            </a:r>
            <a:r>
              <a:rPr lang="ru-RU">
                <a:latin typeface="Arial"/>
                <a:cs typeface="Arial"/>
              </a:rPr>
              <a:t> </a:t>
            </a:r>
            <a:r>
              <a:rPr lang="ru-RU"/>
              <a:t> за время t. </a:t>
            </a:r>
            <a:endParaRPr lang="en-US"/>
          </a:p>
          <a:p>
            <a:pPr>
              <a:defRPr/>
            </a:pPr>
            <a:r>
              <a:rPr lang="ru-RU"/>
              <a:t>За расчетное время t принимается обычно календарный год или другое время, в течение которого не предполагается пополнение запаса. </a:t>
            </a:r>
            <a:endParaRPr/>
          </a:p>
          <a:p>
            <a:pPr>
              <a:defRPr/>
            </a:pPr>
            <a:r>
              <a:rPr lang="ru-RU"/>
              <a:t>Точное значение </a:t>
            </a:r>
            <a:r>
              <a:rPr lang="en-US">
                <a:latin typeface="Arial"/>
                <a:cs typeface="Arial"/>
              </a:rPr>
              <a:t>n</a:t>
            </a:r>
            <a:r>
              <a:rPr lang="en-US" sz="1500">
                <a:latin typeface="Arial"/>
                <a:cs typeface="Arial"/>
              </a:rPr>
              <a:t>ot</a:t>
            </a:r>
            <a:r>
              <a:rPr lang="ru-RU"/>
              <a:t> нам неизвестно. Поэтому мы можем довольствоваться только простейшим случаем, когда </a:t>
            </a:r>
          </a:p>
        </p:txBody>
      </p:sp>
      <p:pic>
        <p:nvPicPr>
          <p:cNvPr id="11266" name="Picture 2"/>
          <p:cNvPicPr>
            <a:picLocks noChangeAspect="1" noChangeArrowheads="1"/>
          </p:cNvPicPr>
          <p:nvPr/>
        </p:nvPicPr>
        <p:blipFill>
          <a:blip r:embed="rId3"/>
          <a:stretch/>
        </p:blipFill>
        <p:spPr bwMode="auto">
          <a:xfrm>
            <a:off x="2987825" y="5656396"/>
            <a:ext cx="2520280" cy="617875"/>
          </a:xfrm>
          <a:prstGeom prst="rect">
            <a:avLst/>
          </a:prstGeom>
          <a:noFill/>
          <a:ln>
            <a:noFill/>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1043608" y="764704"/>
            <a:ext cx="7272808" cy="5688632"/>
          </a:xfrm>
        </p:spPr>
        <p:txBody>
          <a:bodyPr>
            <a:normAutofit/>
          </a:bodyPr>
          <a:lstStyle/>
          <a:p>
            <a:pPr>
              <a:defRPr/>
            </a:pPr>
            <a:r>
              <a:rPr lang="ru-RU"/>
              <a:t>Найдем n</a:t>
            </a:r>
            <a:r>
              <a:rPr lang="ru-RU" sz="1400"/>
              <a:t>ср</a:t>
            </a:r>
            <a:r>
              <a:rPr lang="ru-RU"/>
              <a:t>  при следующих допущениях: поток отказов является простейшим, число элементов данного типа в системе равно N, элементы за период t находятся в рабочем режиме времени t</a:t>
            </a:r>
            <a:r>
              <a:rPr lang="ru-RU" sz="1600"/>
              <a:t>р</a:t>
            </a:r>
            <a:r>
              <a:rPr lang="ru-RU"/>
              <a:t> и имеют при этом интенсивность отказов </a:t>
            </a:r>
            <a:r>
              <a:rPr lang="el-GR"/>
              <a:t>λ</a:t>
            </a:r>
            <a:r>
              <a:rPr lang="ru-RU" sz="1400"/>
              <a:t>р</a:t>
            </a:r>
            <a:r>
              <a:rPr lang="ru-RU"/>
              <a:t>, остальное время t-t</a:t>
            </a:r>
            <a:r>
              <a:rPr lang="ru-RU" sz="1600"/>
              <a:t>p</a:t>
            </a:r>
            <a:r>
              <a:rPr lang="ru-RU"/>
              <a:t>, простаивают, т.е. находятся в режиме простоя времени t</a:t>
            </a:r>
            <a:r>
              <a:rPr lang="ru-RU" sz="1400"/>
              <a:t>пр</a:t>
            </a:r>
            <a:r>
              <a:rPr lang="ru-RU"/>
              <a:t> и имеют при этом интенсивность отказов </a:t>
            </a:r>
            <a:r>
              <a:rPr lang="el-GR"/>
              <a:t>λ</a:t>
            </a:r>
            <a:r>
              <a:rPr lang="ru-RU" sz="1400"/>
              <a:t>пр.</a:t>
            </a:r>
            <a:endParaRPr/>
          </a:p>
          <a:p>
            <a:pPr>
              <a:defRPr/>
            </a:pPr>
            <a:r>
              <a:rPr lang="ru-RU"/>
              <a:t>Тогда среднее число отказов</a:t>
            </a:r>
          </a:p>
        </p:txBody>
      </p:sp>
      <p:pic>
        <p:nvPicPr>
          <p:cNvPr id="12290" name="Picture 2"/>
          <p:cNvPicPr>
            <a:picLocks noChangeAspect="1" noChangeArrowheads="1"/>
          </p:cNvPicPr>
          <p:nvPr/>
        </p:nvPicPr>
        <p:blipFill>
          <a:blip r:embed="rId2"/>
          <a:stretch/>
        </p:blipFill>
        <p:spPr bwMode="auto">
          <a:xfrm>
            <a:off x="2488208" y="4581128"/>
            <a:ext cx="3659122" cy="799901"/>
          </a:xfrm>
          <a:prstGeom prst="rect">
            <a:avLst/>
          </a:prstGeom>
          <a:noFill/>
          <a:ln>
            <a:noFill/>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1043608" y="764704"/>
            <a:ext cx="7416824" cy="5472608"/>
          </a:xfrm>
        </p:spPr>
        <p:txBody>
          <a:bodyPr>
            <a:normAutofit fontScale="92500" lnSpcReduction="20000"/>
          </a:bodyPr>
          <a:lstStyle/>
          <a:p>
            <a:pPr>
              <a:defRPr/>
            </a:pPr>
            <a:r>
              <a:rPr lang="ru-RU"/>
              <a:t>Отсюда:</a:t>
            </a:r>
            <a:endParaRPr/>
          </a:p>
          <a:p>
            <a:pPr>
              <a:defRPr/>
            </a:pPr>
            <a:endParaRPr lang="ru-RU"/>
          </a:p>
          <a:p>
            <a:pPr>
              <a:defRPr/>
            </a:pPr>
            <a:endParaRPr lang="ru-RU"/>
          </a:p>
          <a:p>
            <a:pPr>
              <a:defRPr/>
            </a:pPr>
            <a:r>
              <a:rPr lang="ru-RU"/>
              <a:t>В реальных случаях число отказов n</a:t>
            </a:r>
            <a:r>
              <a:rPr lang="ru-RU" sz="1600"/>
              <a:t>от</a:t>
            </a:r>
            <a:r>
              <a:rPr lang="ru-RU"/>
              <a:t>  может быть больше или меньше среднего значения n</a:t>
            </a:r>
            <a:r>
              <a:rPr lang="ru-RU" sz="1400"/>
              <a:t>ср</a:t>
            </a:r>
            <a:r>
              <a:rPr lang="ru-RU"/>
              <a:t> , поэтому необходимо знать, какова вероятность того, что число отказов n</a:t>
            </a:r>
            <a:r>
              <a:rPr lang="ru-RU" sz="1600"/>
              <a:t>ср</a:t>
            </a:r>
            <a:r>
              <a:rPr lang="ru-RU"/>
              <a:t> не превысит числа запасных элементов, т.е.</a:t>
            </a:r>
            <a:endParaRPr/>
          </a:p>
          <a:p>
            <a:pPr>
              <a:defRPr/>
            </a:pPr>
            <a:endParaRPr lang="ru-RU"/>
          </a:p>
          <a:p>
            <a:pPr>
              <a:defRPr/>
            </a:pPr>
            <a:endParaRPr lang="ru-RU"/>
          </a:p>
          <a:p>
            <a:pPr>
              <a:defRPr/>
            </a:pPr>
            <a:r>
              <a:rPr lang="ru-RU"/>
              <a:t>Если бы нам потребовалось найти вероятность того, что произойдет ровно M отказов, то для простейшего потока отказов она определилась бы по формуле Пуассона</a:t>
            </a:r>
            <a:endParaRPr/>
          </a:p>
          <a:p>
            <a:pPr>
              <a:defRPr/>
            </a:pPr>
            <a:endParaRPr lang="ru-RU"/>
          </a:p>
          <a:p>
            <a:pPr>
              <a:defRPr/>
            </a:pPr>
            <a:endParaRPr lang="ru-RU"/>
          </a:p>
          <a:p>
            <a:pPr>
              <a:defRPr/>
            </a:pPr>
            <a:r>
              <a:rPr lang="ru-RU"/>
              <a:t> </a:t>
            </a:r>
            <a:endParaRPr/>
          </a:p>
          <a:p>
            <a:pPr>
              <a:defRPr/>
            </a:pPr>
            <a:endParaRPr lang="ru-RU"/>
          </a:p>
          <a:p>
            <a:pPr>
              <a:defRPr/>
            </a:pPr>
            <a:endParaRPr lang="ru-RU"/>
          </a:p>
        </p:txBody>
      </p:sp>
      <p:pic>
        <p:nvPicPr>
          <p:cNvPr id="13314" name="Picture 2"/>
          <p:cNvPicPr>
            <a:picLocks noChangeAspect="1" noChangeArrowheads="1"/>
          </p:cNvPicPr>
          <p:nvPr/>
        </p:nvPicPr>
        <p:blipFill>
          <a:blip r:embed="rId2"/>
          <a:stretch/>
        </p:blipFill>
        <p:spPr bwMode="auto">
          <a:xfrm>
            <a:off x="2877694" y="980728"/>
            <a:ext cx="3854545" cy="720080"/>
          </a:xfrm>
          <a:prstGeom prst="rect">
            <a:avLst/>
          </a:prstGeom>
          <a:noFill/>
          <a:ln>
            <a:noFill/>
          </a:ln>
          <a:effectLst/>
        </p:spPr>
      </p:pic>
      <p:pic>
        <p:nvPicPr>
          <p:cNvPr id="13315" name="Picture 3"/>
          <p:cNvPicPr>
            <a:picLocks noChangeAspect="1" noChangeArrowheads="1"/>
          </p:cNvPicPr>
          <p:nvPr/>
        </p:nvPicPr>
        <p:blipFill>
          <a:blip r:embed="rId3"/>
          <a:stretch/>
        </p:blipFill>
        <p:spPr bwMode="auto">
          <a:xfrm>
            <a:off x="3491880" y="2636912"/>
            <a:ext cx="2386305" cy="655885"/>
          </a:xfrm>
          <a:prstGeom prst="rect">
            <a:avLst/>
          </a:prstGeom>
          <a:noFill/>
          <a:ln>
            <a:noFill/>
          </a:ln>
          <a:effectLst/>
        </p:spPr>
      </p:pic>
      <p:pic>
        <p:nvPicPr>
          <p:cNvPr id="13316" name="Picture 4"/>
          <p:cNvPicPr>
            <a:picLocks noChangeAspect="1" noChangeArrowheads="1"/>
          </p:cNvPicPr>
          <p:nvPr/>
        </p:nvPicPr>
        <p:blipFill>
          <a:blip r:embed="rId4"/>
          <a:stretch/>
        </p:blipFill>
        <p:spPr bwMode="auto">
          <a:xfrm>
            <a:off x="3639964" y="4293096"/>
            <a:ext cx="2057400" cy="1257300"/>
          </a:xfrm>
          <a:prstGeom prst="rect">
            <a:avLst/>
          </a:prstGeom>
          <a:noFill/>
          <a:ln>
            <a:noFill/>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1043608" y="764704"/>
            <a:ext cx="7344816" cy="5544616"/>
          </a:xfrm>
        </p:spPr>
        <p:txBody>
          <a:bodyPr>
            <a:normAutofit/>
          </a:bodyPr>
          <a:lstStyle/>
          <a:p>
            <a:pPr>
              <a:defRPr/>
            </a:pPr>
            <a:r>
              <a:rPr lang="ru-RU"/>
              <a:t>Но мы не знаем, сколько будет отказов за время t, поэтому должны перебрать все ве- роятности от M=0 до M=Z. Тогда вероятность того, что среднее число отказов nср не превы- сит числа запасных элементов Z (т.е. доверительную вероятность ), можно записать в виде суммы вероятностей Р</a:t>
            </a:r>
            <a:r>
              <a:rPr lang="ru-RU" sz="1400"/>
              <a:t>M</a:t>
            </a:r>
            <a:r>
              <a:rPr lang="ru-RU"/>
              <a:t> </a:t>
            </a:r>
          </a:p>
          <a:p>
            <a:pPr>
              <a:defRPr/>
            </a:pPr>
            <a:endParaRPr lang="ru-RU"/>
          </a:p>
          <a:p>
            <a:pPr>
              <a:defRPr/>
            </a:pPr>
            <a:endParaRPr lang="ru-RU"/>
          </a:p>
          <a:p>
            <a:pPr>
              <a:defRPr/>
            </a:pPr>
            <a:endParaRPr lang="ru-RU"/>
          </a:p>
          <a:p>
            <a:pPr>
              <a:defRPr/>
            </a:pPr>
            <a:r>
              <a:rPr lang="ru-RU"/>
              <a:t>Теперь видна зависимость (функция):</a:t>
            </a:r>
          </a:p>
        </p:txBody>
      </p:sp>
      <p:pic>
        <p:nvPicPr>
          <p:cNvPr id="14338" name="Picture 2"/>
          <p:cNvPicPr>
            <a:picLocks noChangeAspect="1" noChangeArrowheads="1"/>
          </p:cNvPicPr>
          <p:nvPr/>
        </p:nvPicPr>
        <p:blipFill>
          <a:blip r:embed="rId2"/>
          <a:stretch/>
        </p:blipFill>
        <p:spPr bwMode="auto">
          <a:xfrm>
            <a:off x="2771800" y="3068960"/>
            <a:ext cx="3352800" cy="885825"/>
          </a:xfrm>
          <a:prstGeom prst="rect">
            <a:avLst/>
          </a:prstGeom>
          <a:noFill/>
          <a:ln>
            <a:noFill/>
          </a:ln>
          <a:effectLst/>
        </p:spPr>
      </p:pic>
      <p:pic>
        <p:nvPicPr>
          <p:cNvPr id="14339" name="Picture 3"/>
          <p:cNvPicPr>
            <a:picLocks noChangeAspect="1" noChangeArrowheads="1"/>
          </p:cNvPicPr>
          <p:nvPr/>
        </p:nvPicPr>
        <p:blipFill>
          <a:blip r:embed="rId3"/>
          <a:stretch/>
        </p:blipFill>
        <p:spPr bwMode="auto">
          <a:xfrm>
            <a:off x="3090415" y="5373216"/>
            <a:ext cx="2328769" cy="720080"/>
          </a:xfrm>
          <a:prstGeom prst="rect">
            <a:avLst/>
          </a:prstGeom>
          <a:noFill/>
          <a:ln>
            <a:noFill/>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a:bodyPr>
          <a:lstStyle/>
          <a:p>
            <a:pPr>
              <a:defRPr/>
            </a:pPr>
            <a:r>
              <a:rPr lang="ru-RU"/>
              <a:t>Эта функция затабулирована, и ее значения приводятся в таблицах справочников. Вычислив n</a:t>
            </a:r>
            <a:r>
              <a:rPr lang="ru-RU" sz="1400"/>
              <a:t>ср</a:t>
            </a:r>
            <a:r>
              <a:rPr lang="ru-RU"/>
              <a:t> и задаваясь </a:t>
            </a:r>
            <a:r>
              <a:rPr lang="el-GR"/>
              <a:t>γ</a:t>
            </a:r>
            <a:r>
              <a:rPr lang="ru-RU"/>
              <a:t>, по таблице находят Z. </a:t>
            </a:r>
            <a:endParaRPr/>
          </a:p>
          <a:p>
            <a:pPr>
              <a:defRPr/>
            </a:pPr>
            <a:r>
              <a:rPr lang="ru-RU"/>
              <a:t>Следует отметить, что на практике произведение </a:t>
            </a:r>
            <a:r>
              <a:rPr lang="el-GR"/>
              <a:t>λ</a:t>
            </a:r>
            <a:r>
              <a:rPr lang="ru-RU" sz="1400"/>
              <a:t>пр</a:t>
            </a:r>
            <a:r>
              <a:rPr lang="ru-RU"/>
              <a:t>t</a:t>
            </a:r>
            <a:r>
              <a:rPr lang="ru-RU" sz="1400"/>
              <a:t>пр</a:t>
            </a:r>
            <a:r>
              <a:rPr lang="ru-RU"/>
              <a:t> обычно бывает неизвестным из- за того, что все отказы, возникшие при простое, появляются только во время включенного состояния аппаратуры, поэтому их относят, как правило, к отказам за счет работы аппаратуры. </a:t>
            </a:r>
            <a:endParaRPr/>
          </a:p>
          <a:p>
            <a:pPr>
              <a:defRPr/>
            </a:pPr>
            <a:r>
              <a:rPr lang="ru-RU"/>
              <a:t>Поэтому среднее число отказов на практике подсчитывается по формуле</a:t>
            </a:r>
          </a:p>
        </p:txBody>
      </p:sp>
      <p:pic>
        <p:nvPicPr>
          <p:cNvPr id="15362" name="Picture 2"/>
          <p:cNvPicPr>
            <a:picLocks noChangeAspect="1" noChangeArrowheads="1"/>
          </p:cNvPicPr>
          <p:nvPr/>
        </p:nvPicPr>
        <p:blipFill>
          <a:blip r:embed="rId2"/>
          <a:stretch/>
        </p:blipFill>
        <p:spPr bwMode="auto">
          <a:xfrm>
            <a:off x="3131840" y="5085184"/>
            <a:ext cx="2381250" cy="904875"/>
          </a:xfrm>
          <a:prstGeom prst="rect">
            <a:avLst/>
          </a:prstGeom>
          <a:noFill/>
          <a:ln>
            <a:noFill/>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a:bodyPr>
          <a:lstStyle/>
          <a:p>
            <a:pPr>
              <a:defRPr/>
            </a:pPr>
            <a:r>
              <a:rPr lang="ru-RU"/>
              <a:t>Отметим, что вопросам расчета невосстанавливаемых элементов в настоящее время уделяется достаточно большое внимание. Некоторые авторы довели свои исследования до инженерных методик. Накоплен большой статистический материал, который может быть использован при реализации разработанных методик.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a:bodyPr>
          <a:lstStyle/>
          <a:p>
            <a:pPr>
              <a:defRPr/>
            </a:pPr>
            <a:r>
              <a:rPr lang="ru-RU" b="1"/>
              <a:t>Оценка потребного количества запасных ремонтируемых ТУ.</a:t>
            </a:r>
            <a:endParaRPr/>
          </a:p>
          <a:p>
            <a:pPr>
              <a:defRPr/>
            </a:pPr>
            <a:r>
              <a:rPr lang="ru-RU"/>
              <a:t>Очевидно, что количество запасных блоков, узлов должно быть меньше ожидаемого количества их отказов за данный промежуток времени. Так как каждый запасной объект нужен для подмены рабочего только на время ремонта последнего. А по условию ординарности простейшего потока невозможно, чтобы отказали одновременно все блоки, узлы или станции.</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fontScale="85000" lnSpcReduction="20000"/>
          </a:bodyPr>
          <a:lstStyle/>
          <a:p>
            <a:pPr>
              <a:defRPr/>
            </a:pPr>
            <a:r>
              <a:rPr lang="ru-RU"/>
              <a:t>Задача формируется так. Требуется определить количество запасных блоков Z, необходимых для функционирования системы, состоящей из N блоков (это могут быть, например, стойки, пульты, установленные на однотипных агрегатах ) с вероятностью P(Z) того, что система будет обеспечена запасными блоками, т.е. с доверительной вероятностью. Эта задача является трудной, поэтому мы ее лишь сформулируем, укажем план решения и затем приведем окончательный результат. Такая задача обычно решается при следующих ограничениях: </a:t>
            </a:r>
            <a:endParaRPr/>
          </a:p>
          <a:p>
            <a:pPr>
              <a:defRPr/>
            </a:pPr>
            <a:r>
              <a:rPr lang="ru-RU"/>
              <a:t>1) распределение времени до отказа блока подчиняется экспоненциальному закону при интенсивности отказов, равной </a:t>
            </a:r>
            <a:r>
              <a:rPr lang="el-GR"/>
              <a:t>λ</a:t>
            </a:r>
            <a:r>
              <a:rPr lang="ru-RU"/>
              <a:t>; </a:t>
            </a:r>
          </a:p>
          <a:p>
            <a:pPr>
              <a:defRPr/>
            </a:pPr>
            <a:r>
              <a:rPr lang="ru-RU"/>
              <a:t>2) время на замену неисправного блока начинается сразу же после отказа, а интенсивность восстановления равна </a:t>
            </a:r>
            <a:r>
              <a:rPr lang="el-GR"/>
              <a:t>μ</a:t>
            </a:r>
            <a:r>
              <a:rPr lang="ru-RU"/>
              <a:t>=1/Т</a:t>
            </a:r>
            <a:r>
              <a:rPr lang="ru-RU" sz="1400"/>
              <a:t>В</a:t>
            </a:r>
            <a:r>
              <a:rPr lang="ru-RU"/>
              <a:t>; </a:t>
            </a:r>
            <a:endParaRPr/>
          </a:p>
          <a:p>
            <a:pPr>
              <a:defRPr/>
            </a:pPr>
            <a:r>
              <a:rPr lang="ru-RU"/>
              <a:t>3) все случайные величины времени безотказной работы и времени восстановления взаимонезависимы, но выполняется условие</a:t>
            </a:r>
            <a:endParaRPr/>
          </a:p>
          <a:p>
            <a:pPr>
              <a:defRPr/>
            </a:pPr>
            <a:endParaRPr lang="ru-RU"/>
          </a:p>
          <a:p>
            <a:pPr>
              <a:defRPr/>
            </a:pPr>
            <a:r>
              <a:rPr lang="ru-RU"/>
              <a:t> </a:t>
            </a:r>
          </a:p>
        </p:txBody>
      </p:sp>
      <p:pic>
        <p:nvPicPr>
          <p:cNvPr id="16386" name="Picture 2"/>
          <p:cNvPicPr>
            <a:picLocks noChangeAspect="1" noChangeArrowheads="1"/>
          </p:cNvPicPr>
          <p:nvPr/>
        </p:nvPicPr>
        <p:blipFill>
          <a:blip r:embed="rId3"/>
          <a:stretch/>
        </p:blipFill>
        <p:spPr bwMode="auto">
          <a:xfrm>
            <a:off x="3478162" y="4999830"/>
            <a:ext cx="1552575" cy="504825"/>
          </a:xfrm>
          <a:prstGeom prst="rect">
            <a:avLst/>
          </a:prstGeom>
          <a:noFill/>
          <a:ln>
            <a:noFill/>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a:bodyPr>
          <a:lstStyle/>
          <a:p>
            <a:pPr>
              <a:defRPr/>
            </a:pPr>
            <a:r>
              <a:rPr lang="ru-RU"/>
              <a:t>Накладывая условие, мы хотим, чтобы первая интенсивность была меньше второй. Это необходимо для того, чтобы не было простоев ТУ из-за отсутствия уже отремонтированных блоков;</a:t>
            </a:r>
            <a:endParaRPr/>
          </a:p>
          <a:p>
            <a:pPr>
              <a:defRPr/>
            </a:pPr>
            <a:r>
              <a:rPr lang="ru-RU"/>
              <a:t>4) отказ системы блоков происходит только тогда, когда в момент отказа нет ни одного запасного блока, т.е. в самой худшей из возможных практических ситуаций;</a:t>
            </a:r>
            <a:endParaRPr/>
          </a:p>
          <a:p>
            <a:pPr>
              <a:defRPr/>
            </a:pPr>
            <a:r>
              <a:rPr lang="ru-RU"/>
              <a:t>5) все блоки поддаются ремонту.</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a:bodyPr>
          <a:lstStyle/>
          <a:p>
            <a:pPr>
              <a:defRPr/>
            </a:pPr>
            <a:r>
              <a:rPr lang="ru-RU"/>
              <a:t>При этих ограничениях вероятность P(Z) того, что рассматриваемая система будет обеспечена запасными блоками, может быть найдена. На практике для приближенного расчета Z интересуются вероятностью противоположного события, т.е. вероятностью Q(Z) необес- печения системы запасными блоками:</a:t>
            </a:r>
            <a:endParaRPr/>
          </a:p>
          <a:p>
            <a:pPr>
              <a:defRPr/>
            </a:pPr>
            <a:endParaRPr lang="ru-RU"/>
          </a:p>
          <a:p>
            <a:pPr>
              <a:defRPr/>
            </a:pPr>
            <a:r>
              <a:rPr lang="ru-RU"/>
              <a:t>Доказано, что минимально необходимое число запасных блоков (узлов) Z должно быть таким, чтобы выполнялось следующее неравенство:</a:t>
            </a:r>
          </a:p>
        </p:txBody>
      </p:sp>
      <p:pic>
        <p:nvPicPr>
          <p:cNvPr id="17410" name="Picture 2"/>
          <p:cNvPicPr>
            <a:picLocks noChangeAspect="1" noChangeArrowheads="1"/>
          </p:cNvPicPr>
          <p:nvPr/>
        </p:nvPicPr>
        <p:blipFill>
          <a:blip r:embed="rId2"/>
          <a:stretch/>
        </p:blipFill>
        <p:spPr bwMode="auto">
          <a:xfrm>
            <a:off x="3444254" y="3023985"/>
            <a:ext cx="2088232" cy="513026"/>
          </a:xfrm>
          <a:prstGeom prst="rect">
            <a:avLst/>
          </a:prstGeom>
          <a:noFill/>
          <a:ln>
            <a:noFill/>
          </a:ln>
          <a:effectLst/>
        </p:spPr>
      </p:pic>
      <p:pic>
        <p:nvPicPr>
          <p:cNvPr id="17411" name="Picture 3"/>
          <p:cNvPicPr>
            <a:picLocks noChangeAspect="1" noChangeArrowheads="1"/>
          </p:cNvPicPr>
          <p:nvPr/>
        </p:nvPicPr>
        <p:blipFill>
          <a:blip r:embed="rId3"/>
          <a:stretch/>
        </p:blipFill>
        <p:spPr bwMode="auto">
          <a:xfrm>
            <a:off x="3491880" y="5157192"/>
            <a:ext cx="2088232" cy="907010"/>
          </a:xfrm>
          <a:prstGeom prst="rect">
            <a:avLst/>
          </a:prstGeom>
          <a:noFill/>
          <a:ln>
            <a:noFill/>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lnSpcReduction="10000"/>
          </a:bodyPr>
          <a:lstStyle/>
          <a:p>
            <a:pPr>
              <a:defRPr/>
            </a:pPr>
            <a:r>
              <a:rPr lang="ru-RU"/>
              <a:t>Значение Z, удовлетворяющие последнему неравенству, находятся (путем подбора) следующим образом. </a:t>
            </a:r>
            <a:endParaRPr/>
          </a:p>
          <a:p>
            <a:pPr>
              <a:defRPr/>
            </a:pPr>
            <a:r>
              <a:rPr lang="ru-RU"/>
              <a:t>По заданному значению P(Z) с помощью выражения</a:t>
            </a:r>
            <a:r>
              <a:rPr lang="en-US"/>
              <a:t> Q(Z)=1-P(Z)</a:t>
            </a:r>
            <a:r>
              <a:rPr lang="ru-RU"/>
              <a:t> находят Q(Z). Затем, назначая Z целыми числами</a:t>
            </a:r>
            <a:r>
              <a:rPr lang="en-US"/>
              <a:t> (</a:t>
            </a:r>
            <a:r>
              <a:rPr lang="ru-RU"/>
              <a:t>т.е. 1,2,3</a:t>
            </a:r>
            <a:r>
              <a:rPr lang="en-US"/>
              <a:t>)</a:t>
            </a:r>
            <a:r>
              <a:rPr lang="ru-RU"/>
              <a:t> и т.д., подсчитывают правую часть неравенства. Минимальное значение Z , при котором неравенство выполняется, принимается как результат оценки потребного количества запасных блоков ил узлов ТУ. </a:t>
            </a:r>
            <a:endParaRPr/>
          </a:p>
          <a:p>
            <a:pPr>
              <a:defRPr/>
            </a:pPr>
            <a:r>
              <a:rPr lang="ru-RU"/>
              <a:t>Рассмотренная методика оценки  не претендует на полноту и соблюдение всех математических строгостей, однако она вполне удовлетворяет интересам инженерной практики.</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a:bodyPr>
          <a:lstStyle/>
          <a:p>
            <a:pPr>
              <a:defRPr/>
            </a:pPr>
            <a:r>
              <a:rPr lang="ru-RU" b="1"/>
              <a:t> Оптимизация структурного резервирования.</a:t>
            </a:r>
            <a:endParaRPr/>
          </a:p>
          <a:p>
            <a:pPr>
              <a:defRPr/>
            </a:pPr>
            <a:r>
              <a:rPr lang="ru-RU"/>
              <a:t>Структурное резервирование позволяет повысить надежность технической системы практически до любого уровня. Однако на практике часто возможности резервирования ограничиваются имеющимися ресурсами (числом элементов, их стоимостью, весом, объемом объекта и т.д.). Поэтому чаще всего ставится задача не максимального увеличения надежности, а обеспечения максимально возможной или заданной надежности системы при минимальных или предельно допустимых затратах, т.е. оптимизация надежности.</a:t>
            </a:r>
            <a:endParaRPr lang="ru-RU"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755576" y="764704"/>
            <a:ext cx="7632848" cy="5544616"/>
          </a:xfrm>
        </p:spPr>
        <p:txBody>
          <a:bodyPr>
            <a:normAutofit fontScale="92500" lnSpcReduction="10000"/>
          </a:bodyPr>
          <a:lstStyle/>
          <a:p>
            <a:pPr>
              <a:defRPr/>
            </a:pPr>
            <a:r>
              <a:rPr lang="ru-RU"/>
              <a:t>Задачи оптимального резервирования отличаются большим разнообразием по постановке, числу и виду наложенных ограничений, однако, как правило, все они сводятся к задачам двух типов: </a:t>
            </a:r>
          </a:p>
          <a:p>
            <a:pPr>
              <a:defRPr/>
            </a:pPr>
            <a:r>
              <a:rPr lang="ru-RU"/>
              <a:t>определению числа резервных элементов, обеспечивающих заданную надежность при минимальном расходовании ресурсов (прямая основная задача оптимизации);</a:t>
            </a:r>
            <a:endParaRPr/>
          </a:p>
          <a:p>
            <a:pPr>
              <a:defRPr/>
            </a:pPr>
            <a:r>
              <a:rPr lang="ru-RU"/>
              <a:t>обеспечивающих максимальную надежность системы при ограниченных ресурсах (обратная основная задача оптимизации). </a:t>
            </a:r>
          </a:p>
          <a:p>
            <a:pPr>
              <a:defRPr/>
            </a:pPr>
            <a:r>
              <a:rPr lang="ru-RU"/>
              <a:t>При этом в качестве показателей надежности могут использоваться вероятность безотказной работы, коэффициент готовности, средняя наработка и другие характеристики, а в качестве ресурса – стоимость, масса, габаритные размеры или число элементов.</a:t>
            </a:r>
            <a:endParaRPr lang="ru-RU" b="1"/>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image" Target="../media/image1.jpg"/></Relationships>
</file>

<file path=ppt/theme/theme1.xml><?xml version="1.0" encoding="utf-8"?>
<a:theme xmlns:a="http://schemas.openxmlformats.org/drawingml/2006/main" name="Кнопка">
  <a:themeElements>
    <a:clrScheme name="Кнопка">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Кнопка">
      <a:majorFont>
        <a:latin typeface="Constantia"/>
        <a:ea typeface="Arial"/>
        <a:cs typeface="Arial"/>
      </a:majorFont>
      <a:minorFont>
        <a:latin typeface="Franklin Gothic Book"/>
        <a:ea typeface="Arial"/>
        <a:cs typeface="Arial"/>
      </a:minorFont>
    </a:fontScheme>
    <a:fmtScheme name="Кнопка">
      <a:fillStyleLst>
        <a:solidFill>
          <a:schemeClr val="phClr"/>
        </a:solidFill>
        <a:gradFill>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tint val="93000"/>
          </a:schemeClr>
        </a:solidFill>
        <a:blipFill>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Arial"/>
        <a:cs typeface="Arial"/>
      </a:majorFont>
      <a:minorFont>
        <a:latin typeface="Calibri"/>
        <a:ea typeface="Arial"/>
        <a:cs typeface="Arial"/>
      </a:minorFont>
    </a:fontScheme>
    <a:fmtScheme name="Стандартная">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170</TotalTime>
  <Words>2452</Words>
  <Application>Microsoft Office PowerPoint</Application>
  <DocSecurity>0</DocSecurity>
  <PresentationFormat>Экран (4:3)</PresentationFormat>
  <Paragraphs>158</Paragraphs>
  <Slides>33</Slides>
  <Notes>14</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33</vt:i4>
      </vt:variant>
    </vt:vector>
  </HeadingPairs>
  <TitlesOfParts>
    <vt:vector size="40" baseType="lpstr">
      <vt:lpstr>Arial</vt:lpstr>
      <vt:lpstr>Brush Script MT</vt:lpstr>
      <vt:lpstr>Calibri</vt:lpstr>
      <vt:lpstr>Constantia</vt:lpstr>
      <vt:lpstr>Franklin Gothic Book</vt:lpstr>
      <vt:lpstr>Rage Italic</vt:lpstr>
      <vt:lpstr>Кнопка</vt:lpstr>
      <vt:lpstr>Теоретические основы надёжности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Введение в системы реального времени</dc:title>
  <dc:subject/>
  <dc:creator>Admin</dc:creator>
  <cp:keywords/>
  <dc:description/>
  <cp:lastModifiedBy>Михаил Самус</cp:lastModifiedBy>
  <cp:revision>34</cp:revision>
  <dcterms:created xsi:type="dcterms:W3CDTF">2021-09-05T20:07:36Z</dcterms:created>
  <dcterms:modified xsi:type="dcterms:W3CDTF">2024-02-21T11:29:02Z</dcterms:modified>
  <cp:category/>
  <dc:identifier/>
  <cp:contentStatus/>
  <dc:language/>
  <cp:version/>
</cp:coreProperties>
</file>