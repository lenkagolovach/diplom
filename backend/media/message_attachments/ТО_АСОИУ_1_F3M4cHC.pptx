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32" r:id="rId1"/>
  </p:sldMasterIdLst>
  <p:notesMasterIdLst>
    <p:notesMasterId r:id="rId4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5" r:id="rId20"/>
    <p:sldId id="276" r:id="rId21"/>
    <p:sldId id="278" r:id="rId22"/>
    <p:sldId id="279" r:id="rId23"/>
    <p:sldId id="280" r:id="rId24"/>
    <p:sldId id="281" r:id="rId25"/>
    <p:sldId id="282" r:id="rId26"/>
    <p:sldId id="277" r:id="rId27"/>
    <p:sldId id="283" r:id="rId28"/>
    <p:sldId id="284" r:id="rId29"/>
    <p:sldId id="285" r:id="rId30"/>
    <p:sldId id="286" r:id="rId31"/>
    <p:sldId id="287" r:id="rId32"/>
    <p:sldId id="288" r:id="rId33"/>
    <p:sldId id="289" r:id="rId34"/>
    <p:sldId id="290" r:id="rId35"/>
    <p:sldId id="291" r:id="rId36"/>
    <p:sldId id="293" r:id="rId37"/>
    <p:sldId id="294" r:id="rId38"/>
    <p:sldId id="295" r:id="rId39"/>
    <p:sldId id="296" r:id="rId40"/>
  </p:sldIdLst>
  <p:sldSz cx="9144000" cy="6858000" type="screen4x3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-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Нет стиля, нет сетки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76700" autoAdjust="0"/>
  </p:normalViewPr>
  <p:slideViewPr>
    <p:cSldViewPr>
      <p:cViewPr varScale="1">
        <p:scale>
          <a:sx n="89" d="100"/>
          <a:sy n="89" d="100"/>
        </p:scale>
        <p:origin x="2244" y="9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presProps" Target="pres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20" Type="http://schemas.openxmlformats.org/officeDocument/2006/relationships/slide" Target="slides/slide19.xml"/><Relationship Id="rId41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12D02DF-B7FA-4BC1-8520-CDF546209CF8}" type="datetimeFigureOut">
              <a:rPr lang="ru-RU" smtClean="0"/>
              <a:t>31.01.2023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370AAC8-68B7-405B-A682-D1F706DDB45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92615589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b="1" i="1" dirty="0" smtClean="0"/>
              <a:t>Можете ли вы дать определение термину</a:t>
            </a:r>
            <a:r>
              <a:rPr lang="ru-RU" b="1" i="1" baseline="0" dirty="0" smtClean="0"/>
              <a:t> реальное время?</a:t>
            </a:r>
            <a:endParaRPr lang="ru-RU" b="1" i="1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370AAC8-68B7-405B-A682-D1F706DDB456}" type="slidenum">
              <a:rPr lang="ru-RU" smtClean="0"/>
              <a:t>1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1946894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Электронные средства служат для интенсификации выполняемых работ, повышения скорости и точности решения научно-исследовательских задач, контроля, управления техническими процессами, и т.п. </a:t>
            </a:r>
            <a:endParaRPr lang="ru-RU" b="1" i="1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370AAC8-68B7-405B-A682-D1F706DDB456}" type="slidenum">
              <a:rPr lang="ru-RU" smtClean="0"/>
              <a:t>2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93238912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Поскольку сложность объектов управления является </a:t>
            </a:r>
            <a:r>
              <a:rPr lang="ru-RU" sz="1200" u="sng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данностью</a:t>
            </a:r>
            <a:r>
              <a:rPr lang="ru-RU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повлиять на выполнение ЗНР можно только </a:t>
            </a:r>
            <a:r>
              <a:rPr lang="ru-RU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путѐм</a:t>
            </a:r>
            <a:r>
              <a:rPr lang="ru-RU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усложнения, совершенствования субъекта управления. Иначе говоря, усложнение объектов управления, их ин- </a:t>
            </a:r>
            <a:r>
              <a:rPr lang="ru-RU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тенсивное</a:t>
            </a:r>
            <a:r>
              <a:rPr lang="ru-RU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и экстенсивное развитие требует по ЗНР более сложных систем управления, процедур принятия управленческих решений, алгоритмов </a:t>
            </a:r>
            <a:r>
              <a:rPr lang="ru-RU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форми</a:t>
            </a:r>
            <a:r>
              <a:rPr lang="ru-RU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- </a:t>
            </a:r>
            <a:r>
              <a:rPr lang="ru-RU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рования</a:t>
            </a:r>
            <a:r>
              <a:rPr lang="ru-RU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управляющих воздействий. Таким образом, в течение всего жизненно- </a:t>
            </a:r>
            <a:r>
              <a:rPr lang="ru-RU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го</a:t>
            </a:r>
            <a:r>
              <a:rPr lang="ru-RU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цикла промышленного предприятия необходимо </a:t>
            </a:r>
            <a:r>
              <a:rPr lang="ru-RU" sz="1200" b="1" i="1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постоянное </a:t>
            </a:r>
            <a:r>
              <a:rPr lang="ru-RU" sz="1200" b="1" i="1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совершенст</a:t>
            </a:r>
            <a:r>
              <a:rPr lang="ru-RU" sz="1200" b="1" i="1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- </a:t>
            </a:r>
            <a:r>
              <a:rPr lang="ru-RU" sz="1200" b="1" i="1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вование</a:t>
            </a:r>
            <a:r>
              <a:rPr lang="ru-RU" sz="1200" b="1" i="1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процессов управления</a:t>
            </a:r>
            <a:r>
              <a:rPr lang="ru-RU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370AAC8-68B7-405B-A682-D1F706DDB456}" type="slidenum">
              <a:rPr lang="ru-RU" smtClean="0"/>
              <a:t>3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5541781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sz="1200" b="0" i="0" u="none" strike="noStrike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С ростом сложности ЭС функциональность их растет, а</a:t>
            </a:r>
          </a:p>
          <a:p>
            <a:r>
              <a:rPr lang="ru-RU" sz="1200" b="0" i="0" u="none" strike="noStrike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надежность падает.</a:t>
            </a:r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370AAC8-68B7-405B-A682-D1F706DDB456}" type="slidenum">
              <a:rPr lang="ru-RU" smtClean="0"/>
              <a:t>4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24633048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370AAC8-68B7-405B-A682-D1F706DDB456}" type="slidenum">
              <a:rPr lang="ru-RU" smtClean="0"/>
              <a:t>5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6852156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370AAC8-68B7-405B-A682-D1F706DDB456}" type="slidenum">
              <a:rPr lang="ru-RU" smtClean="0"/>
              <a:t>6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56714196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 smtClean="0"/>
              <a:t> Понятно, что качество продукции относится к числу важнейших показателей деятельности предприятия [3]. Повышение качества продукции в значительной мере определяет выживаемость предприятия в условиях рынка, темпы технического прогресса, внедрение инноваций, рост эффективности производства, экономию всех видов ресурсов, используемых на предприятии. В современных условиях конкуренция между предприятиями развертывается главным образом на поле качества выпускаемой продукции. </a:t>
            </a:r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370AAC8-68B7-405B-A682-D1F706DDB456}" type="slidenum">
              <a:rPr lang="ru-RU" smtClean="0"/>
              <a:t>7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47353152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 smtClean="0"/>
              <a:t>Но любой документ или эталон узаконивает определенный набор свойств и характеристик лишь на какой-то период времени, а потребности непрерывно меняются, поэтому предприятие, изготовляя продукцию даже в точном соответствии с нормативно-технической документацией, рискует выпускать ее некачественной, не устраивающей потребителя. </a:t>
            </a:r>
          </a:p>
          <a:p>
            <a:r>
              <a:rPr lang="ru-RU" dirty="0" smtClean="0"/>
              <a:t>Таким образом, основное место в оценке качества продукции или услуг отводится потребителю, а стандарты, законы и правила (в том числе и международные) лишь закрепляют и регламентируют прогрессивный опыт, накопленный в области качества. </a:t>
            </a:r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370AAC8-68B7-405B-A682-D1F706DDB456}" type="slidenum">
              <a:rPr lang="ru-RU" smtClean="0"/>
              <a:t>8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38021314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370AAC8-68B7-405B-A682-D1F706DDB456}" type="slidenum">
              <a:rPr lang="ru-RU" smtClean="0"/>
              <a:t>10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141493543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370AAC8-68B7-405B-A682-D1F706DDB456}" type="slidenum">
              <a:rPr lang="ru-RU" smtClean="0"/>
              <a:t>11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879181735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Для организации и осуществления управления промышленными предприятиями, производствами и процессами и предназначены автоматизированные системы управления</a:t>
            </a:r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370AAC8-68B7-405B-A682-D1F706DDB456}" type="slidenum">
              <a:rPr lang="ru-RU" smtClean="0"/>
              <a:t>16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372535239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370AAC8-68B7-405B-A682-D1F706DDB456}" type="slidenum">
              <a:rPr lang="ru-RU" smtClean="0"/>
              <a:t>17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754812247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370AAC8-68B7-405B-A682-D1F706DDB456}" type="slidenum">
              <a:rPr lang="ru-RU" smtClean="0"/>
              <a:t>18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904532784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dirty="0" smtClean="0"/>
              <a:t>В среде CALS-технологий такой инструмент, как управление</a:t>
            </a:r>
            <a:r>
              <a:rPr lang="en-US" dirty="0" smtClean="0"/>
              <a:t> </a:t>
            </a:r>
            <a:r>
              <a:rPr lang="ru-RU" dirty="0" smtClean="0"/>
              <a:t>данными о продукте, может играть ключевую роль как средство, позволяющее осуществлять создание, доступ, распределение, надежное управление и контроль за едиными обновляемыми хранилищами информации. </a:t>
            </a:r>
          </a:p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370AAC8-68B7-405B-A682-D1F706DDB456}" type="slidenum">
              <a:rPr lang="ru-RU" smtClean="0"/>
              <a:t>19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81703284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 smtClean="0"/>
              <a:t>Что такое допуск на параметр?</a:t>
            </a:r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370AAC8-68B7-405B-A682-D1F706DDB456}" type="slidenum">
              <a:rPr lang="ru-RU" smtClean="0"/>
              <a:t>25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14141102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sz="1200" b="0" i="0" u="none" strike="noStrike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где </a:t>
            </a:r>
            <a:r>
              <a:rPr lang="en-US" sz="1200" b="0" i="0" u="none" strike="noStrike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a, b – </a:t>
            </a:r>
            <a:r>
              <a:rPr lang="ru-RU" sz="1200" b="0" i="0" u="none" strike="noStrike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константы.</a:t>
            </a:r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370AAC8-68B7-405B-A682-D1F706DDB456}" type="slidenum">
              <a:rPr lang="ru-RU" smtClean="0"/>
              <a:t>34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5247737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15"/>
          <p:cNvGrpSpPr/>
          <p:nvPr/>
        </p:nvGrpSpPr>
        <p:grpSpPr>
          <a:xfrm>
            <a:off x="0" y="0"/>
            <a:ext cx="9144000" cy="6858000"/>
            <a:chOff x="0" y="0"/>
            <a:chExt cx="9144000" cy="6858000"/>
          </a:xfrm>
        </p:grpSpPr>
        <p:sp>
          <p:nvSpPr>
            <p:cNvPr id="8" name="Rectangle 7"/>
            <p:cNvSpPr/>
            <p:nvPr/>
          </p:nvSpPr>
          <p:spPr>
            <a:xfrm>
              <a:off x="0" y="0"/>
              <a:ext cx="7162800" cy="6858000"/>
            </a:xfrm>
            <a:prstGeom prst="rect">
              <a:avLst/>
            </a:prstGeom>
            <a:gradFill flip="none" rotWithShape="1">
              <a:gsLst>
                <a:gs pos="0">
                  <a:srgbClr val="010101">
                    <a:alpha val="51765"/>
                  </a:srgbClr>
                </a:gs>
                <a:gs pos="60000">
                  <a:srgbClr val="FEFEFE">
                    <a:alpha val="0"/>
                  </a:srgbClr>
                </a:gs>
              </a:gsLst>
              <a:path path="circle">
                <a:fillToRect t="100000" r="100000"/>
              </a:path>
              <a:tileRect l="-100000" b="-10000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" name="Rectangle 8"/>
            <p:cNvSpPr/>
            <p:nvPr/>
          </p:nvSpPr>
          <p:spPr>
            <a:xfrm>
              <a:off x="1143000" y="0"/>
              <a:ext cx="8001000" cy="6858000"/>
            </a:xfrm>
            <a:prstGeom prst="rect">
              <a:avLst/>
            </a:prstGeom>
            <a:gradFill flip="none" rotWithShape="1">
              <a:gsLst>
                <a:gs pos="0">
                  <a:srgbClr val="010101">
                    <a:alpha val="56000"/>
                  </a:srgbClr>
                </a:gs>
                <a:gs pos="61000">
                  <a:srgbClr val="FEFEFE">
                    <a:alpha val="0"/>
                  </a:srgbClr>
                </a:gs>
              </a:gsLst>
              <a:path path="circle">
                <a:fillToRect l="100000" t="100000"/>
              </a:path>
              <a:tileRect r="-100000" b="-10000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0" name="Freeform 9"/>
          <p:cNvSpPr/>
          <p:nvPr/>
        </p:nvSpPr>
        <p:spPr>
          <a:xfrm rot="10800000">
            <a:off x="891821" y="5617774"/>
            <a:ext cx="7382935" cy="537210"/>
          </a:xfrm>
          <a:custGeom>
            <a:avLst/>
            <a:gdLst>
              <a:gd name="connsiteX0" fmla="*/ 0 w 7955280"/>
              <a:gd name="connsiteY0" fmla="*/ 495300 h 495300"/>
              <a:gd name="connsiteX1" fmla="*/ 169546 w 7955280"/>
              <a:gd name="connsiteY1" fmla="*/ 0 h 495300"/>
              <a:gd name="connsiteX2" fmla="*/ 7785734 w 7955280"/>
              <a:gd name="connsiteY2" fmla="*/ 0 h 495300"/>
              <a:gd name="connsiteX3" fmla="*/ 7955280 w 7955280"/>
              <a:gd name="connsiteY3" fmla="*/ 495300 h 495300"/>
              <a:gd name="connsiteX4" fmla="*/ 0 w 7955280"/>
              <a:gd name="connsiteY4" fmla="*/ 495300 h 495300"/>
              <a:gd name="connsiteX0" fmla="*/ 0 w 7955280"/>
              <a:gd name="connsiteY0" fmla="*/ 495300 h 495300"/>
              <a:gd name="connsiteX1" fmla="*/ 169546 w 7955280"/>
              <a:gd name="connsiteY1" fmla="*/ 0 h 495300"/>
              <a:gd name="connsiteX2" fmla="*/ 3966210 w 7955280"/>
              <a:gd name="connsiteY2" fmla="*/ 95250 h 495300"/>
              <a:gd name="connsiteX3" fmla="*/ 7785734 w 7955280"/>
              <a:gd name="connsiteY3" fmla="*/ 0 h 495300"/>
              <a:gd name="connsiteX4" fmla="*/ 7955280 w 7955280"/>
              <a:gd name="connsiteY4" fmla="*/ 495300 h 495300"/>
              <a:gd name="connsiteX5" fmla="*/ 0 w 7955280"/>
              <a:gd name="connsiteY5" fmla="*/ 495300 h 4953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7955280" h="495300">
                <a:moveTo>
                  <a:pt x="0" y="495300"/>
                </a:moveTo>
                <a:lnTo>
                  <a:pt x="169546" y="0"/>
                </a:lnTo>
                <a:lnTo>
                  <a:pt x="3966210" y="95250"/>
                </a:lnTo>
                <a:lnTo>
                  <a:pt x="7785734" y="0"/>
                </a:lnTo>
                <a:lnTo>
                  <a:pt x="7955280" y="495300"/>
                </a:lnTo>
                <a:lnTo>
                  <a:pt x="0" y="495300"/>
                </a:lnTo>
                <a:close/>
              </a:path>
            </a:pathLst>
          </a:custGeom>
          <a:gradFill flip="none" rotWithShape="1">
            <a:gsLst>
              <a:gs pos="30000">
                <a:srgbClr val="010101">
                  <a:alpha val="34000"/>
                </a:srgbClr>
              </a:gs>
              <a:gs pos="100000">
                <a:srgbClr val="010101">
                  <a:alpha val="26000"/>
                </a:srgb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>
            <a:softEdge rad="1270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/>
          <p:cNvSpPr/>
          <p:nvPr/>
        </p:nvSpPr>
        <p:spPr>
          <a:xfrm>
            <a:off x="989952" y="1016990"/>
            <a:ext cx="7179733" cy="4831643"/>
          </a:xfrm>
          <a:prstGeom prst="rect">
            <a:avLst/>
          </a:prstGeom>
          <a:solidFill>
            <a:schemeClr val="bg1">
              <a:lumMod val="75000"/>
              <a:lumOff val="25000"/>
            </a:schemeClr>
          </a:solidFill>
          <a:ln w="6350">
            <a:noFill/>
          </a:ln>
          <a:effectLst>
            <a:outerShdw blurRad="101600" dist="50800" dir="5400000" algn="t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/>
          <p:cNvSpPr/>
          <p:nvPr/>
        </p:nvSpPr>
        <p:spPr>
          <a:xfrm>
            <a:off x="990600" y="1009650"/>
            <a:ext cx="7179733" cy="4831643"/>
          </a:xfrm>
          <a:prstGeom prst="rect">
            <a:avLst/>
          </a:prstGeom>
          <a:blipFill dpi="0" rotWithShape="1">
            <a:blip r:embed="rId2" cstate="print">
              <a:alphaModFix amt="20000"/>
              <a:grayscl/>
              <a:lum contrast="12000"/>
            </a:blip>
            <a:srcRect/>
            <a:tile tx="0" ty="0" sx="100000" sy="100000" flip="none" algn="tl"/>
          </a:blipFill>
          <a:ln w="6350">
            <a:noFill/>
          </a:ln>
          <a:effectLst>
            <a:outerShdw blurRad="101600" dist="50800" dir="5400000" algn="t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3" name="Picture 2" descr="C:\Users\Administrator\Desktop\Pushpin Dev\Assets\pushpinLeft.pn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 rot="1435684">
            <a:off x="769521" y="702069"/>
            <a:ext cx="567831" cy="567830"/>
          </a:xfrm>
          <a:prstGeom prst="rect">
            <a:avLst/>
          </a:prstGeom>
          <a:noFill/>
        </p:spPr>
      </p:pic>
      <p:pic>
        <p:nvPicPr>
          <p:cNvPr id="14" name="Picture 2" descr="C:\Users\Administrator\Desktop\Pushpin Dev\Assets\pushpinLeft.pn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 rot="4096196">
            <a:off x="7855433" y="749720"/>
            <a:ext cx="566928" cy="566928"/>
          </a:xfrm>
          <a:prstGeom prst="rect">
            <a:avLst/>
          </a:prstGeom>
          <a:noFill/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727201" y="1794935"/>
            <a:ext cx="5723468" cy="1828090"/>
          </a:xfrm>
        </p:spPr>
        <p:txBody>
          <a:bodyPr anchor="b">
            <a:normAutofit/>
          </a:bodyPr>
          <a:lstStyle>
            <a:lvl1pPr>
              <a:defRPr sz="4800"/>
            </a:lvl1pPr>
          </a:lstStyle>
          <a:p>
            <a:r>
              <a:rPr lang="ru-RU" smtClean="0"/>
              <a:t>Образец заголовка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727200" y="3736622"/>
            <a:ext cx="5712179" cy="15240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2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ru-RU" smtClean="0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770676" y="5357592"/>
            <a:ext cx="1213821" cy="365125"/>
          </a:xfrm>
        </p:spPr>
        <p:txBody>
          <a:bodyPr/>
          <a:lstStyle/>
          <a:p>
            <a:fld id="{B4C71EC6-210F-42DE-9C53-41977AD35B3D}" type="datetimeFigureOut">
              <a:rPr lang="ru-RU" smtClean="0"/>
              <a:t>31.01.2023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174044" y="5357592"/>
            <a:ext cx="5034845" cy="365125"/>
          </a:xfrm>
        </p:spPr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213930" y="5357592"/>
            <a:ext cx="554023" cy="365125"/>
          </a:xfrm>
        </p:spPr>
        <p:txBody>
          <a:bodyPr/>
          <a:lstStyle>
            <a:lvl1pPr algn="ctr">
              <a:defRPr/>
            </a:lvl1pPr>
          </a:lstStyle>
          <a:p>
            <a:fld id="{B19B0651-EE4F-4900-A07F-96A6BFA9D0F0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C71EC6-210F-42DE-9C53-41977AD35B3D}" type="datetimeFigureOut">
              <a:rPr lang="ru-RU" smtClean="0"/>
              <a:t>31.01.2023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4979" y="2239430"/>
            <a:ext cx="6254044" cy="1362075"/>
          </a:xfrm>
        </p:spPr>
        <p:txBody>
          <a:bodyPr anchor="b"/>
          <a:lstStyle>
            <a:lvl1pPr algn="ctr">
              <a:defRPr sz="4000" b="0" cap="none" baseline="0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56267" y="3725334"/>
            <a:ext cx="6231467" cy="1309511"/>
          </a:xfrm>
        </p:spPr>
        <p:txBody>
          <a:bodyPr anchor="t"/>
          <a:lstStyle>
            <a:lvl1pPr marL="0" indent="0" algn="ctr">
              <a:buNone/>
              <a:defRPr sz="2000">
                <a:solidFill>
                  <a:schemeClr val="tx2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C71EC6-210F-42DE-9C53-41977AD35B3D}" type="datetimeFigureOut">
              <a:rPr lang="ru-RU" smtClean="0"/>
              <a:t>31.01.2023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C71EC6-210F-42DE-9C53-41977AD35B3D}" type="datetimeFigureOut">
              <a:rPr lang="ru-RU" smtClean="0"/>
              <a:t>31.01.2023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t>‹#›</a:t>
            </a:fld>
            <a:endParaRPr lang="ru-RU"/>
          </a:p>
        </p:txBody>
      </p:sp>
      <p:sp>
        <p:nvSpPr>
          <p:cNvPr id="9" name="Content Placeholder 8"/>
          <p:cNvSpPr>
            <a:spLocks noGrp="1"/>
          </p:cNvSpPr>
          <p:nvPr>
            <p:ph sz="quarter" idx="13"/>
          </p:nvPr>
        </p:nvSpPr>
        <p:spPr>
          <a:xfrm>
            <a:off x="1298448" y="2121407"/>
            <a:ext cx="3200400" cy="3602736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14"/>
          </p:nvPr>
        </p:nvSpPr>
        <p:spPr>
          <a:xfrm>
            <a:off x="4663440" y="2119313"/>
            <a:ext cx="3200400" cy="3605212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ru-RU" smtClean="0"/>
              <a:t>Образец заголовка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557869" y="2122312"/>
            <a:ext cx="2939521" cy="820208"/>
          </a:xfrm>
        </p:spPr>
        <p:txBody>
          <a:bodyPr anchor="b">
            <a:normAutofit/>
          </a:bodyPr>
          <a:lstStyle>
            <a:lvl1pPr marL="0" indent="0" algn="ctr">
              <a:buNone/>
              <a:defRPr sz="2000" b="1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910669" y="2122311"/>
            <a:ext cx="2944368" cy="822960"/>
          </a:xfrm>
        </p:spPr>
        <p:txBody>
          <a:bodyPr anchor="b">
            <a:normAutofit/>
          </a:bodyPr>
          <a:lstStyle>
            <a:lvl1pPr marL="0" indent="0" algn="ctr">
              <a:buNone/>
              <a:defRPr sz="2000" b="1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C71EC6-210F-42DE-9C53-41977AD35B3D}" type="datetimeFigureOut">
              <a:rPr lang="ru-RU" smtClean="0"/>
              <a:t>31.01.2023</a:t>
            </a:fld>
            <a:endParaRPr lang="ru-R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t>‹#›</a:t>
            </a:fld>
            <a:endParaRPr lang="ru-RU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13"/>
          </p:nvPr>
        </p:nvSpPr>
        <p:spPr>
          <a:xfrm>
            <a:off x="1298448" y="2944368"/>
            <a:ext cx="3227832" cy="2779776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13" name="Content Placeholder 12"/>
          <p:cNvSpPr>
            <a:spLocks noGrp="1"/>
          </p:cNvSpPr>
          <p:nvPr>
            <p:ph sz="quarter" idx="14"/>
          </p:nvPr>
        </p:nvSpPr>
        <p:spPr>
          <a:xfrm>
            <a:off x="4645151" y="2944813"/>
            <a:ext cx="3227832" cy="2779776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C71EC6-210F-42DE-9C53-41977AD35B3D}" type="datetimeFigureOut">
              <a:rPr lang="ru-RU" smtClean="0"/>
              <a:t>31.01.2023</a:t>
            </a:fld>
            <a:endParaRPr lang="ru-R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C71EC6-210F-42DE-9C53-41977AD35B3D}" type="datetimeFigureOut">
              <a:rPr lang="ru-RU" smtClean="0"/>
              <a:t>31.01.2023</a:t>
            </a:fld>
            <a:endParaRPr lang="ru-R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15"/>
          <p:cNvGrpSpPr/>
          <p:nvPr/>
        </p:nvGrpSpPr>
        <p:grpSpPr>
          <a:xfrm>
            <a:off x="0" y="0"/>
            <a:ext cx="9144000" cy="6858000"/>
            <a:chOff x="0" y="0"/>
            <a:chExt cx="9144000" cy="6858000"/>
          </a:xfrm>
        </p:grpSpPr>
        <p:sp>
          <p:nvSpPr>
            <p:cNvPr id="9" name="Rectangle 8"/>
            <p:cNvSpPr/>
            <p:nvPr/>
          </p:nvSpPr>
          <p:spPr>
            <a:xfrm>
              <a:off x="0" y="0"/>
              <a:ext cx="7162800" cy="6858000"/>
            </a:xfrm>
            <a:prstGeom prst="rect">
              <a:avLst/>
            </a:prstGeom>
            <a:gradFill flip="none" rotWithShape="1">
              <a:gsLst>
                <a:gs pos="0">
                  <a:srgbClr val="010101">
                    <a:alpha val="51765"/>
                  </a:srgbClr>
                </a:gs>
                <a:gs pos="60000">
                  <a:srgbClr val="FEFEFE">
                    <a:alpha val="0"/>
                  </a:srgbClr>
                </a:gs>
              </a:gsLst>
              <a:path path="circle">
                <a:fillToRect t="100000" r="100000"/>
              </a:path>
              <a:tileRect l="-100000" b="-10000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" name="Rectangle 9"/>
            <p:cNvSpPr/>
            <p:nvPr/>
          </p:nvSpPr>
          <p:spPr>
            <a:xfrm>
              <a:off x="1143000" y="0"/>
              <a:ext cx="8001000" cy="6858000"/>
            </a:xfrm>
            <a:prstGeom prst="rect">
              <a:avLst/>
            </a:prstGeom>
            <a:gradFill flip="none" rotWithShape="1">
              <a:gsLst>
                <a:gs pos="0">
                  <a:srgbClr val="010101">
                    <a:alpha val="56000"/>
                  </a:srgbClr>
                </a:gs>
                <a:gs pos="61000">
                  <a:srgbClr val="FEFEFE">
                    <a:alpha val="0"/>
                  </a:srgbClr>
                </a:gs>
              </a:gsLst>
              <a:path path="circle">
                <a:fillToRect l="100000" t="100000"/>
              </a:path>
              <a:tileRect r="-100000" b="-10000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1" name="Freeform 10"/>
          <p:cNvSpPr/>
          <p:nvPr/>
        </p:nvSpPr>
        <p:spPr>
          <a:xfrm rot="10800000">
            <a:off x="632177" y="6058038"/>
            <a:ext cx="7721601" cy="537210"/>
          </a:xfrm>
          <a:custGeom>
            <a:avLst/>
            <a:gdLst>
              <a:gd name="connsiteX0" fmla="*/ 0 w 7955280"/>
              <a:gd name="connsiteY0" fmla="*/ 495300 h 495300"/>
              <a:gd name="connsiteX1" fmla="*/ 169546 w 7955280"/>
              <a:gd name="connsiteY1" fmla="*/ 0 h 495300"/>
              <a:gd name="connsiteX2" fmla="*/ 7785734 w 7955280"/>
              <a:gd name="connsiteY2" fmla="*/ 0 h 495300"/>
              <a:gd name="connsiteX3" fmla="*/ 7955280 w 7955280"/>
              <a:gd name="connsiteY3" fmla="*/ 495300 h 495300"/>
              <a:gd name="connsiteX4" fmla="*/ 0 w 7955280"/>
              <a:gd name="connsiteY4" fmla="*/ 495300 h 495300"/>
              <a:gd name="connsiteX0" fmla="*/ 0 w 7955280"/>
              <a:gd name="connsiteY0" fmla="*/ 495300 h 495300"/>
              <a:gd name="connsiteX1" fmla="*/ 169546 w 7955280"/>
              <a:gd name="connsiteY1" fmla="*/ 0 h 495300"/>
              <a:gd name="connsiteX2" fmla="*/ 3966210 w 7955280"/>
              <a:gd name="connsiteY2" fmla="*/ 95250 h 495300"/>
              <a:gd name="connsiteX3" fmla="*/ 7785734 w 7955280"/>
              <a:gd name="connsiteY3" fmla="*/ 0 h 495300"/>
              <a:gd name="connsiteX4" fmla="*/ 7955280 w 7955280"/>
              <a:gd name="connsiteY4" fmla="*/ 495300 h 495300"/>
              <a:gd name="connsiteX5" fmla="*/ 0 w 7955280"/>
              <a:gd name="connsiteY5" fmla="*/ 495300 h 4953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7955280" h="495300">
                <a:moveTo>
                  <a:pt x="0" y="495300"/>
                </a:moveTo>
                <a:lnTo>
                  <a:pt x="169546" y="0"/>
                </a:lnTo>
                <a:lnTo>
                  <a:pt x="3966210" y="95250"/>
                </a:lnTo>
                <a:lnTo>
                  <a:pt x="7785734" y="0"/>
                </a:lnTo>
                <a:lnTo>
                  <a:pt x="7955280" y="495300"/>
                </a:lnTo>
                <a:lnTo>
                  <a:pt x="0" y="495300"/>
                </a:lnTo>
                <a:close/>
              </a:path>
            </a:pathLst>
          </a:custGeom>
          <a:gradFill flip="none" rotWithShape="1">
            <a:gsLst>
              <a:gs pos="30000">
                <a:srgbClr val="010101">
                  <a:alpha val="34000"/>
                </a:srgbClr>
              </a:gs>
              <a:gs pos="100000">
                <a:srgbClr val="010101">
                  <a:alpha val="26000"/>
                </a:srgb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>
            <a:softEdge rad="1270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/>
          <p:cNvSpPr/>
          <p:nvPr/>
        </p:nvSpPr>
        <p:spPr>
          <a:xfrm rot="60000">
            <a:off x="4468872" y="605163"/>
            <a:ext cx="3788941" cy="5722296"/>
          </a:xfrm>
          <a:prstGeom prst="rect">
            <a:avLst/>
          </a:prstGeom>
          <a:solidFill>
            <a:schemeClr val="bg1"/>
          </a:solidFill>
          <a:ln w="6350">
            <a:noFill/>
          </a:ln>
          <a:effectLst>
            <a:outerShdw blurRad="101600" dist="50800" dir="5400000" algn="t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/>
          <p:cNvSpPr/>
          <p:nvPr/>
        </p:nvSpPr>
        <p:spPr>
          <a:xfrm rot="60000">
            <a:off x="4471416" y="603504"/>
            <a:ext cx="3788941" cy="5722296"/>
          </a:xfrm>
          <a:prstGeom prst="rect">
            <a:avLst/>
          </a:prstGeom>
          <a:blipFill dpi="0" rotWithShape="1">
            <a:blip r:embed="rId2" cstate="print">
              <a:alphaModFix amt="20000"/>
              <a:grayscl/>
              <a:lum contrast="12000"/>
            </a:blip>
            <a:srcRect/>
            <a:tile tx="0" ty="0" sx="100000" sy="100000" flip="none" algn="tl"/>
          </a:blipFill>
          <a:ln w="6350">
            <a:noFill/>
          </a:ln>
          <a:effectLst>
            <a:outerShdw blurRad="101600" dist="50800" dir="5400000" algn="t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/>
          <p:cNvSpPr/>
          <p:nvPr/>
        </p:nvSpPr>
        <p:spPr>
          <a:xfrm rot="21540000">
            <a:off x="749204" y="576868"/>
            <a:ext cx="3788941" cy="5722296"/>
          </a:xfrm>
          <a:prstGeom prst="rect">
            <a:avLst/>
          </a:prstGeom>
          <a:solidFill>
            <a:schemeClr val="bg1"/>
          </a:solidFill>
          <a:ln w="6350">
            <a:noFill/>
          </a:ln>
          <a:effectLst>
            <a:outerShdw blurRad="101600" dist="50800" dir="5400000" algn="t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/>
          <p:cNvSpPr/>
          <p:nvPr/>
        </p:nvSpPr>
        <p:spPr>
          <a:xfrm rot="21540000">
            <a:off x="749808" y="576072"/>
            <a:ext cx="3788941" cy="5722296"/>
          </a:xfrm>
          <a:prstGeom prst="rect">
            <a:avLst/>
          </a:prstGeom>
          <a:blipFill dpi="0" rotWithShape="1">
            <a:blip r:embed="rId2" cstate="print">
              <a:alphaModFix amt="20000"/>
              <a:grayscl/>
              <a:lum contrast="12000"/>
            </a:blip>
            <a:srcRect/>
            <a:tile tx="0" ty="0" sx="100000" sy="100000" flip="none" algn="tl"/>
          </a:blipFill>
          <a:ln w="6350">
            <a:noFill/>
          </a:ln>
          <a:effectLst>
            <a:outerShdw blurRad="101600" dist="50800" dir="5400000" algn="t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8" name="Picture 2" descr="C:\Users\Administrator\Desktop\Pushpin Dev\Assets\pushpinLeft.pn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 rot="1435684">
            <a:off x="2371106" y="293953"/>
            <a:ext cx="567831" cy="567830"/>
          </a:xfrm>
          <a:prstGeom prst="rect">
            <a:avLst/>
          </a:prstGeom>
          <a:noFill/>
        </p:spPr>
      </p:pic>
      <p:pic>
        <p:nvPicPr>
          <p:cNvPr id="19" name="Picture 2" descr="C:\Users\Administrator\Desktop\Pushpin Dev\Assets\pushpinLeft.pn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 rot="4096196">
            <a:off x="6279647" y="333163"/>
            <a:ext cx="566928" cy="566928"/>
          </a:xfrm>
          <a:prstGeom prst="rect">
            <a:avLst/>
          </a:prstGeom>
          <a:noFill/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 rot="-60000">
            <a:off x="1108976" y="2020042"/>
            <a:ext cx="3064827" cy="1503037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ru-RU" smtClean="0"/>
              <a:t>Образец заголовка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 rot="60000">
            <a:off x="4854291" y="1150993"/>
            <a:ext cx="3020792" cy="4625489"/>
          </a:xfrm>
        </p:spPr>
        <p:txBody>
          <a:bodyPr anchor="ctr"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4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 rot="-60000">
            <a:off x="1148125" y="3623748"/>
            <a:ext cx="3048891" cy="2100400"/>
          </a:xfrm>
        </p:spPr>
        <p:txBody>
          <a:bodyPr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 rot="60000">
            <a:off x="6341698" y="5885672"/>
            <a:ext cx="1213821" cy="365125"/>
          </a:xfrm>
        </p:spPr>
        <p:txBody>
          <a:bodyPr/>
          <a:lstStyle/>
          <a:p>
            <a:fld id="{B4C71EC6-210F-42DE-9C53-41977AD35B3D}" type="datetimeFigureOut">
              <a:rPr lang="ru-RU" smtClean="0"/>
              <a:t>31.01.2023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 rot="-60000">
            <a:off x="914554" y="5829261"/>
            <a:ext cx="3522607" cy="365125"/>
          </a:xfrm>
        </p:spPr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 rot="60000">
            <a:off x="7557313" y="5896961"/>
            <a:ext cx="554023" cy="365125"/>
          </a:xfrm>
        </p:spPr>
        <p:txBody>
          <a:bodyPr/>
          <a:lstStyle/>
          <a:p>
            <a:fld id="{B19B0651-EE4F-4900-A07F-96A6BFA9D0F0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15"/>
          <p:cNvGrpSpPr/>
          <p:nvPr/>
        </p:nvGrpSpPr>
        <p:grpSpPr>
          <a:xfrm>
            <a:off x="0" y="0"/>
            <a:ext cx="9144000" cy="6858000"/>
            <a:chOff x="0" y="0"/>
            <a:chExt cx="9144000" cy="6858000"/>
          </a:xfrm>
        </p:grpSpPr>
        <p:sp>
          <p:nvSpPr>
            <p:cNvPr id="9" name="Rectangle 8"/>
            <p:cNvSpPr/>
            <p:nvPr/>
          </p:nvSpPr>
          <p:spPr>
            <a:xfrm>
              <a:off x="0" y="0"/>
              <a:ext cx="7162800" cy="6858000"/>
            </a:xfrm>
            <a:prstGeom prst="rect">
              <a:avLst/>
            </a:prstGeom>
            <a:gradFill flip="none" rotWithShape="1">
              <a:gsLst>
                <a:gs pos="0">
                  <a:srgbClr val="010101">
                    <a:alpha val="51765"/>
                  </a:srgbClr>
                </a:gs>
                <a:gs pos="60000">
                  <a:srgbClr val="FEFEFE">
                    <a:alpha val="0"/>
                  </a:srgbClr>
                </a:gs>
              </a:gsLst>
              <a:path path="circle">
                <a:fillToRect t="100000" r="100000"/>
              </a:path>
              <a:tileRect l="-100000" b="-10000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" name="Rectangle 9"/>
            <p:cNvSpPr/>
            <p:nvPr/>
          </p:nvSpPr>
          <p:spPr>
            <a:xfrm>
              <a:off x="1143000" y="0"/>
              <a:ext cx="8001000" cy="6858000"/>
            </a:xfrm>
            <a:prstGeom prst="rect">
              <a:avLst/>
            </a:prstGeom>
            <a:gradFill flip="none" rotWithShape="1">
              <a:gsLst>
                <a:gs pos="0">
                  <a:srgbClr val="010101">
                    <a:alpha val="56000"/>
                  </a:srgbClr>
                </a:gs>
                <a:gs pos="61000">
                  <a:srgbClr val="FEFEFE">
                    <a:alpha val="0"/>
                  </a:srgbClr>
                </a:gs>
              </a:gsLst>
              <a:path path="circle">
                <a:fillToRect l="100000" t="100000"/>
              </a:path>
              <a:tileRect r="-100000" b="-10000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31" name="Freeform 30"/>
          <p:cNvSpPr/>
          <p:nvPr/>
        </p:nvSpPr>
        <p:spPr>
          <a:xfrm rot="10800000">
            <a:off x="632177" y="6058038"/>
            <a:ext cx="7721601" cy="537210"/>
          </a:xfrm>
          <a:custGeom>
            <a:avLst/>
            <a:gdLst>
              <a:gd name="connsiteX0" fmla="*/ 0 w 7955280"/>
              <a:gd name="connsiteY0" fmla="*/ 495300 h 495300"/>
              <a:gd name="connsiteX1" fmla="*/ 169546 w 7955280"/>
              <a:gd name="connsiteY1" fmla="*/ 0 h 495300"/>
              <a:gd name="connsiteX2" fmla="*/ 7785734 w 7955280"/>
              <a:gd name="connsiteY2" fmla="*/ 0 h 495300"/>
              <a:gd name="connsiteX3" fmla="*/ 7955280 w 7955280"/>
              <a:gd name="connsiteY3" fmla="*/ 495300 h 495300"/>
              <a:gd name="connsiteX4" fmla="*/ 0 w 7955280"/>
              <a:gd name="connsiteY4" fmla="*/ 495300 h 495300"/>
              <a:gd name="connsiteX0" fmla="*/ 0 w 7955280"/>
              <a:gd name="connsiteY0" fmla="*/ 495300 h 495300"/>
              <a:gd name="connsiteX1" fmla="*/ 169546 w 7955280"/>
              <a:gd name="connsiteY1" fmla="*/ 0 h 495300"/>
              <a:gd name="connsiteX2" fmla="*/ 3966210 w 7955280"/>
              <a:gd name="connsiteY2" fmla="*/ 95250 h 495300"/>
              <a:gd name="connsiteX3" fmla="*/ 7785734 w 7955280"/>
              <a:gd name="connsiteY3" fmla="*/ 0 h 495300"/>
              <a:gd name="connsiteX4" fmla="*/ 7955280 w 7955280"/>
              <a:gd name="connsiteY4" fmla="*/ 495300 h 495300"/>
              <a:gd name="connsiteX5" fmla="*/ 0 w 7955280"/>
              <a:gd name="connsiteY5" fmla="*/ 495300 h 4953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7955280" h="495300">
                <a:moveTo>
                  <a:pt x="0" y="495300"/>
                </a:moveTo>
                <a:lnTo>
                  <a:pt x="169546" y="0"/>
                </a:lnTo>
                <a:lnTo>
                  <a:pt x="3966210" y="95250"/>
                </a:lnTo>
                <a:lnTo>
                  <a:pt x="7785734" y="0"/>
                </a:lnTo>
                <a:lnTo>
                  <a:pt x="7955280" y="495300"/>
                </a:lnTo>
                <a:lnTo>
                  <a:pt x="0" y="495300"/>
                </a:lnTo>
                <a:close/>
              </a:path>
            </a:pathLst>
          </a:custGeom>
          <a:gradFill flip="none" rotWithShape="1">
            <a:gsLst>
              <a:gs pos="30000">
                <a:srgbClr val="010101">
                  <a:alpha val="34000"/>
                </a:srgbClr>
              </a:gs>
              <a:gs pos="100000">
                <a:srgbClr val="010101">
                  <a:alpha val="26000"/>
                </a:srgb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>
            <a:softEdge rad="1270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/>
          <p:cNvSpPr/>
          <p:nvPr/>
        </p:nvSpPr>
        <p:spPr>
          <a:xfrm rot="21540000">
            <a:off x="749204" y="576868"/>
            <a:ext cx="3788941" cy="5722296"/>
          </a:xfrm>
          <a:prstGeom prst="rect">
            <a:avLst/>
          </a:prstGeom>
          <a:solidFill>
            <a:schemeClr val="bg1"/>
          </a:solidFill>
          <a:ln w="6350">
            <a:noFill/>
          </a:ln>
          <a:effectLst>
            <a:outerShdw blurRad="101600" dist="50800" dir="5400000" algn="t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/>
          <p:cNvSpPr/>
          <p:nvPr/>
        </p:nvSpPr>
        <p:spPr>
          <a:xfrm rot="21540000">
            <a:off x="745058" y="575769"/>
            <a:ext cx="3788941" cy="5722296"/>
          </a:xfrm>
          <a:prstGeom prst="rect">
            <a:avLst/>
          </a:prstGeom>
          <a:blipFill dpi="0" rotWithShape="1">
            <a:blip r:embed="rId2" cstate="print">
              <a:alphaModFix amt="20000"/>
              <a:grayscl/>
              <a:lum contrast="12000"/>
            </a:blip>
            <a:srcRect/>
            <a:tile tx="0" ty="0" sx="100000" sy="100000" flip="none" algn="tl"/>
          </a:blipFill>
          <a:ln w="6350">
            <a:noFill/>
          </a:ln>
          <a:effectLst>
            <a:outerShdw blurRad="101600" dist="50800" dir="5400000" algn="t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Rectangle 28"/>
          <p:cNvSpPr/>
          <p:nvPr/>
        </p:nvSpPr>
        <p:spPr>
          <a:xfrm rot="60000">
            <a:off x="4468872" y="605163"/>
            <a:ext cx="3788941" cy="5722296"/>
          </a:xfrm>
          <a:prstGeom prst="rect">
            <a:avLst/>
          </a:prstGeom>
          <a:solidFill>
            <a:schemeClr val="bg1"/>
          </a:solidFill>
          <a:ln w="6350">
            <a:noFill/>
          </a:ln>
          <a:effectLst>
            <a:outerShdw blurRad="101600" dist="50800" dir="5400000" algn="t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Rectangle 29"/>
          <p:cNvSpPr/>
          <p:nvPr/>
        </p:nvSpPr>
        <p:spPr>
          <a:xfrm rot="60000">
            <a:off x="4464768" y="603920"/>
            <a:ext cx="3788941" cy="5722296"/>
          </a:xfrm>
          <a:prstGeom prst="rect">
            <a:avLst/>
          </a:prstGeom>
          <a:blipFill dpi="0" rotWithShape="1">
            <a:blip r:embed="rId2" cstate="print">
              <a:alphaModFix amt="20000"/>
              <a:grayscl/>
              <a:lum contrast="12000"/>
            </a:blip>
            <a:srcRect/>
            <a:tile tx="0" ty="0" sx="100000" sy="100000" flip="none" algn="tl"/>
          </a:blipFill>
          <a:ln w="6350">
            <a:noFill/>
          </a:ln>
          <a:effectLst>
            <a:outerShdw blurRad="101600" dist="50800" dir="5400000" algn="t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4" name="Picture 2" descr="C:\Users\Administrator\Desktop\Pushpin Dev\Assets\pushpinLeft.pn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 rot="1435684">
            <a:off x="2371106" y="293953"/>
            <a:ext cx="567831" cy="567830"/>
          </a:xfrm>
          <a:prstGeom prst="rect">
            <a:avLst/>
          </a:prstGeom>
          <a:noFill/>
        </p:spPr>
      </p:pic>
      <p:pic>
        <p:nvPicPr>
          <p:cNvPr id="15" name="Picture 2" descr="C:\Users\Administrator\Desktop\Pushpin Dev\Assets\pushpinLeft.pn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 rot="4096196">
            <a:off x="6279647" y="333163"/>
            <a:ext cx="566928" cy="566928"/>
          </a:xfrm>
          <a:prstGeom prst="rect">
            <a:avLst/>
          </a:prstGeom>
          <a:noFill/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 rot="-60000">
            <a:off x="1106424" y="2020824"/>
            <a:ext cx="3063240" cy="1499616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 rot="60000">
            <a:off x="4898615" y="1207272"/>
            <a:ext cx="2913863" cy="4539412"/>
          </a:xfrm>
          <a:ln w="101600" cap="rnd">
            <a:solidFill>
              <a:srgbClr val="FFFFFF"/>
            </a:solidFill>
          </a:ln>
          <a:effectLst>
            <a:outerShdw blurRad="88900" dir="2700000" algn="tl" rotWithShape="0">
              <a:prstClr val="black">
                <a:alpha val="40000"/>
              </a:prstClr>
            </a:outerShdw>
          </a:effectLst>
        </p:spPr>
        <p:txBody>
          <a:bodyPr>
            <a:normAutofit/>
          </a:bodyPr>
          <a:lstStyle>
            <a:lvl1pPr marL="0" indent="0">
              <a:buNone/>
              <a:defRPr sz="24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ru-RU" smtClean="0"/>
              <a:t>Вставка рисунка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 rot="-60000">
            <a:off x="1152144" y="3621024"/>
            <a:ext cx="3044952" cy="2103120"/>
          </a:xfrm>
        </p:spPr>
        <p:txBody>
          <a:bodyPr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 rot="60000">
            <a:off x="6345936" y="5888737"/>
            <a:ext cx="1213821" cy="365125"/>
          </a:xfrm>
        </p:spPr>
        <p:txBody>
          <a:bodyPr/>
          <a:lstStyle/>
          <a:p>
            <a:fld id="{B4C71EC6-210F-42DE-9C53-41977AD35B3D}" type="datetimeFigureOut">
              <a:rPr lang="ru-RU" smtClean="0"/>
              <a:t>31.01.2023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 rot="-60000">
            <a:off x="914569" y="5831037"/>
            <a:ext cx="3319043" cy="365125"/>
          </a:xfrm>
        </p:spPr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 rot="60000">
            <a:off x="7562089" y="5900026"/>
            <a:ext cx="554023" cy="365125"/>
          </a:xfrm>
        </p:spPr>
        <p:txBody>
          <a:bodyPr/>
          <a:lstStyle/>
          <a:p>
            <a:fld id="{B19B0651-EE4F-4900-A07F-96A6BFA9D0F0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ctr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C71EC6-210F-42DE-9C53-41977AD35B3D}" type="datetimeFigureOut">
              <a:rPr lang="ru-RU" smtClean="0"/>
              <a:t>31.01.2023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1" y="925690"/>
            <a:ext cx="1430867" cy="4763911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298221" y="1106312"/>
            <a:ext cx="5178779" cy="4402667"/>
          </a:xfrm>
        </p:spPr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C71EC6-210F-42DE-9C53-41977AD35B3D}" type="datetimeFigureOut">
              <a:rPr lang="ru-RU" smtClean="0"/>
              <a:t>31.01.2023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3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4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15"/>
          <p:cNvGrpSpPr/>
          <p:nvPr/>
        </p:nvGrpSpPr>
        <p:grpSpPr>
          <a:xfrm>
            <a:off x="0" y="0"/>
            <a:ext cx="9144000" cy="6858000"/>
            <a:chOff x="0" y="0"/>
            <a:chExt cx="9144000" cy="6858000"/>
          </a:xfrm>
        </p:grpSpPr>
        <p:sp>
          <p:nvSpPr>
            <p:cNvPr id="8" name="Rectangle 7"/>
            <p:cNvSpPr/>
            <p:nvPr/>
          </p:nvSpPr>
          <p:spPr>
            <a:xfrm>
              <a:off x="0" y="0"/>
              <a:ext cx="7162800" cy="6858000"/>
            </a:xfrm>
            <a:prstGeom prst="rect">
              <a:avLst/>
            </a:prstGeom>
            <a:gradFill flip="none" rotWithShape="1">
              <a:gsLst>
                <a:gs pos="0">
                  <a:srgbClr val="010101">
                    <a:alpha val="51765"/>
                  </a:srgbClr>
                </a:gs>
                <a:gs pos="60000">
                  <a:srgbClr val="FEFEFE">
                    <a:alpha val="0"/>
                  </a:srgbClr>
                </a:gs>
              </a:gsLst>
              <a:path path="circle">
                <a:fillToRect t="100000" r="100000"/>
              </a:path>
              <a:tileRect l="-100000" b="-10000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" name="Rectangle 8"/>
            <p:cNvSpPr/>
            <p:nvPr/>
          </p:nvSpPr>
          <p:spPr>
            <a:xfrm>
              <a:off x="1143000" y="0"/>
              <a:ext cx="8001000" cy="6858000"/>
            </a:xfrm>
            <a:prstGeom prst="rect">
              <a:avLst/>
            </a:prstGeom>
            <a:gradFill flip="none" rotWithShape="1">
              <a:gsLst>
                <a:gs pos="0">
                  <a:srgbClr val="010101">
                    <a:alpha val="56000"/>
                  </a:srgbClr>
                </a:gs>
                <a:gs pos="61000">
                  <a:srgbClr val="FEFEFE">
                    <a:alpha val="0"/>
                  </a:srgbClr>
                </a:gs>
              </a:gsLst>
              <a:path path="circle">
                <a:fillToRect l="100000" t="100000"/>
              </a:path>
              <a:tileRect r="-100000" b="-10000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0" name="Freeform 9"/>
          <p:cNvSpPr/>
          <p:nvPr/>
        </p:nvSpPr>
        <p:spPr>
          <a:xfrm rot="10800000">
            <a:off x="628650" y="6069330"/>
            <a:ext cx="7920991" cy="537210"/>
          </a:xfrm>
          <a:custGeom>
            <a:avLst/>
            <a:gdLst>
              <a:gd name="connsiteX0" fmla="*/ 0 w 7955280"/>
              <a:gd name="connsiteY0" fmla="*/ 495300 h 495300"/>
              <a:gd name="connsiteX1" fmla="*/ 169546 w 7955280"/>
              <a:gd name="connsiteY1" fmla="*/ 0 h 495300"/>
              <a:gd name="connsiteX2" fmla="*/ 7785734 w 7955280"/>
              <a:gd name="connsiteY2" fmla="*/ 0 h 495300"/>
              <a:gd name="connsiteX3" fmla="*/ 7955280 w 7955280"/>
              <a:gd name="connsiteY3" fmla="*/ 495300 h 495300"/>
              <a:gd name="connsiteX4" fmla="*/ 0 w 7955280"/>
              <a:gd name="connsiteY4" fmla="*/ 495300 h 495300"/>
              <a:gd name="connsiteX0" fmla="*/ 0 w 7955280"/>
              <a:gd name="connsiteY0" fmla="*/ 495300 h 495300"/>
              <a:gd name="connsiteX1" fmla="*/ 169546 w 7955280"/>
              <a:gd name="connsiteY1" fmla="*/ 0 h 495300"/>
              <a:gd name="connsiteX2" fmla="*/ 3966210 w 7955280"/>
              <a:gd name="connsiteY2" fmla="*/ 95250 h 495300"/>
              <a:gd name="connsiteX3" fmla="*/ 7785734 w 7955280"/>
              <a:gd name="connsiteY3" fmla="*/ 0 h 495300"/>
              <a:gd name="connsiteX4" fmla="*/ 7955280 w 7955280"/>
              <a:gd name="connsiteY4" fmla="*/ 495300 h 495300"/>
              <a:gd name="connsiteX5" fmla="*/ 0 w 7955280"/>
              <a:gd name="connsiteY5" fmla="*/ 495300 h 4953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7955280" h="495300">
                <a:moveTo>
                  <a:pt x="0" y="495300"/>
                </a:moveTo>
                <a:lnTo>
                  <a:pt x="169546" y="0"/>
                </a:lnTo>
                <a:lnTo>
                  <a:pt x="3966210" y="95250"/>
                </a:lnTo>
                <a:lnTo>
                  <a:pt x="7785734" y="0"/>
                </a:lnTo>
                <a:lnTo>
                  <a:pt x="7955280" y="495300"/>
                </a:lnTo>
                <a:lnTo>
                  <a:pt x="0" y="495300"/>
                </a:lnTo>
                <a:close/>
              </a:path>
            </a:pathLst>
          </a:custGeom>
          <a:gradFill flip="none" rotWithShape="1">
            <a:gsLst>
              <a:gs pos="30000">
                <a:srgbClr val="010101">
                  <a:alpha val="34000"/>
                </a:srgbClr>
              </a:gs>
              <a:gs pos="100000">
                <a:srgbClr val="010101">
                  <a:alpha val="26000"/>
                </a:srgb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>
            <a:softEdge rad="1270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/>
          <p:cNvSpPr/>
          <p:nvPr/>
        </p:nvSpPr>
        <p:spPr>
          <a:xfrm>
            <a:off x="731520" y="575310"/>
            <a:ext cx="7696200" cy="5715000"/>
          </a:xfrm>
          <a:prstGeom prst="rect">
            <a:avLst/>
          </a:prstGeom>
          <a:solidFill>
            <a:schemeClr val="bg1">
              <a:lumMod val="75000"/>
              <a:lumOff val="25000"/>
            </a:schemeClr>
          </a:solidFill>
          <a:ln w="6350">
            <a:noFill/>
          </a:ln>
          <a:effectLst>
            <a:outerShdw blurRad="101600" dist="50800" dir="5400000" algn="t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/>
          <p:cNvSpPr/>
          <p:nvPr/>
        </p:nvSpPr>
        <p:spPr>
          <a:xfrm>
            <a:off x="731520" y="576072"/>
            <a:ext cx="7696200" cy="5715000"/>
          </a:xfrm>
          <a:prstGeom prst="rect">
            <a:avLst/>
          </a:prstGeom>
          <a:blipFill dpi="0" rotWithShape="1">
            <a:blip r:embed="rId13" cstate="print">
              <a:alphaModFix amt="20000"/>
              <a:grayscl/>
              <a:lum contrast="12000"/>
            </a:blip>
            <a:srcRect/>
            <a:tile tx="0" ty="0" sx="100000" sy="100000" flip="none" algn="tl"/>
          </a:blipFill>
          <a:ln w="6350">
            <a:noFill/>
          </a:ln>
          <a:effectLst>
            <a:outerShdw blurRad="101600" dist="50800" dir="5400000" algn="t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3" name="Picture 2" descr="C:\Users\Administrator\Desktop\Pushpin Dev\Assets\pushpinLeft.png"/>
          <p:cNvPicPr>
            <a:picLocks noChangeAspect="1" noChangeArrowheads="1"/>
          </p:cNvPicPr>
          <p:nvPr/>
        </p:nvPicPr>
        <p:blipFill>
          <a:blip r:embed="rId14" cstate="print"/>
          <a:srcRect/>
          <a:stretch>
            <a:fillRect/>
          </a:stretch>
        </p:blipFill>
        <p:spPr bwMode="auto">
          <a:xfrm rot="1435684">
            <a:off x="543741" y="273091"/>
            <a:ext cx="567831" cy="567830"/>
          </a:xfrm>
          <a:prstGeom prst="rect">
            <a:avLst/>
          </a:prstGeom>
          <a:noFill/>
        </p:spPr>
      </p:pic>
      <p:pic>
        <p:nvPicPr>
          <p:cNvPr id="14" name="Picture 2" descr="C:\Users\Administrator\Desktop\Pushpin Dev\Assets\pushpinLeft.png"/>
          <p:cNvPicPr>
            <a:picLocks noChangeAspect="1" noChangeArrowheads="1"/>
          </p:cNvPicPr>
          <p:nvPr/>
        </p:nvPicPr>
        <p:blipFill>
          <a:blip r:embed="rId14" cstate="print"/>
          <a:srcRect/>
          <a:stretch>
            <a:fillRect/>
          </a:stretch>
        </p:blipFill>
        <p:spPr bwMode="auto">
          <a:xfrm rot="4096196">
            <a:off x="8115079" y="298163"/>
            <a:ext cx="566928" cy="566928"/>
          </a:xfrm>
          <a:prstGeom prst="rect">
            <a:avLst/>
          </a:prstGeom>
          <a:noFill/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5023" y="817582"/>
            <a:ext cx="6965245" cy="120248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63040" y="2119257"/>
            <a:ext cx="6196405" cy="3603812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454588" y="5809152"/>
            <a:ext cx="121382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2"/>
                </a:solidFill>
                <a:latin typeface="Rage Italic" pitchFamily="66" charset="0"/>
              </a:defRPr>
            </a:lvl1pPr>
          </a:lstStyle>
          <a:p>
            <a:fld id="{B4C71EC6-210F-42DE-9C53-41977AD35B3D}" type="datetimeFigureOut">
              <a:rPr lang="ru-RU" smtClean="0"/>
              <a:t>31.01.2023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914401" y="5809152"/>
            <a:ext cx="554018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>
                <a:solidFill>
                  <a:schemeClr val="tx2"/>
                </a:solidFill>
                <a:latin typeface="Rage Italic" pitchFamily="66" charset="0"/>
              </a:defRPr>
            </a:lvl1pPr>
          </a:lstStyle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670202" y="5809152"/>
            <a:ext cx="55402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400">
                <a:solidFill>
                  <a:schemeClr val="tx2"/>
                </a:solidFill>
                <a:latin typeface="Rage Italic" pitchFamily="66" charset="0"/>
              </a:defRPr>
            </a:lvl1pPr>
          </a:lstStyle>
          <a:p>
            <a:fld id="{B19B0651-EE4F-4900-A07F-96A6BFA9D0F0}" type="slidenum">
              <a:rPr lang="ru-RU" smtClean="0"/>
              <a:t>‹#›</a:t>
            </a:fld>
            <a:endParaRPr lang="ru-RU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33" r:id="rId1"/>
    <p:sldLayoutId id="2147483734" r:id="rId2"/>
    <p:sldLayoutId id="2147483735" r:id="rId3"/>
    <p:sldLayoutId id="2147483736" r:id="rId4"/>
    <p:sldLayoutId id="2147483737" r:id="rId5"/>
    <p:sldLayoutId id="2147483738" r:id="rId6"/>
    <p:sldLayoutId id="2147483739" r:id="rId7"/>
    <p:sldLayoutId id="2147483740" r:id="rId8"/>
    <p:sldLayoutId id="2147483741" r:id="rId9"/>
    <p:sldLayoutId id="2147483742" r:id="rId10"/>
    <p:sldLayoutId id="2147483743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74320" indent="-274320" algn="l" defTabSz="914400" rtl="0" eaLnBrk="1" latinLnBrk="0" hangingPunct="1">
        <a:spcBef>
          <a:spcPct val="20000"/>
        </a:spcBef>
        <a:buClr>
          <a:schemeClr val="accent2"/>
        </a:buClr>
        <a:buSzPct val="85000"/>
        <a:buFont typeface="Brush Script MT" pitchFamily="66" charset="0"/>
        <a:buChar char="O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40080" indent="-274320" algn="l" defTabSz="914400" rtl="0" eaLnBrk="1" latinLnBrk="0" hangingPunct="1">
        <a:spcBef>
          <a:spcPct val="20000"/>
        </a:spcBef>
        <a:buClr>
          <a:schemeClr val="accent2"/>
        </a:buClr>
        <a:buSzPct val="85000"/>
        <a:buFont typeface="Brush Script MT" pitchFamily="66" charset="0"/>
        <a:buChar char="O"/>
        <a:defRPr sz="22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indent="-228600" algn="l" defTabSz="914400" rtl="0" eaLnBrk="1" latinLnBrk="0" hangingPunct="1">
        <a:spcBef>
          <a:spcPct val="20000"/>
        </a:spcBef>
        <a:buClr>
          <a:schemeClr val="accent2"/>
        </a:buClr>
        <a:buSzPct val="85000"/>
        <a:buFont typeface="Brush Script MT" pitchFamily="66" charset="0"/>
        <a:buChar char="O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280160" indent="-228600" algn="l" defTabSz="914400" rtl="0" eaLnBrk="1" latinLnBrk="0" hangingPunct="1">
        <a:spcBef>
          <a:spcPct val="20000"/>
        </a:spcBef>
        <a:buClr>
          <a:schemeClr val="accent2"/>
        </a:buClr>
        <a:buSzPct val="85000"/>
        <a:buFont typeface="Brush Script MT" pitchFamily="66" charset="0"/>
        <a:buChar char="O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645920" indent="-228600" algn="l" defTabSz="914400" rtl="0" eaLnBrk="1" latinLnBrk="0" hangingPunct="1">
        <a:spcBef>
          <a:spcPct val="20000"/>
        </a:spcBef>
        <a:buClr>
          <a:schemeClr val="accent2"/>
        </a:buClr>
        <a:buSzPct val="85000"/>
        <a:buFont typeface="Brush Script MT" pitchFamily="66" charset="0"/>
        <a:buChar char="O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011680" indent="-228600" algn="l" defTabSz="914400" rtl="0" eaLnBrk="1" latinLnBrk="0" hangingPunct="1">
        <a:spcBef>
          <a:spcPct val="20000"/>
        </a:spcBef>
        <a:buClr>
          <a:schemeClr val="accent2"/>
        </a:buClr>
        <a:buSzPct val="85000"/>
        <a:buFont typeface="Brush Script MT" pitchFamily="66" charset="0"/>
        <a:buChar char="O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2377440" indent="-228600" algn="l" defTabSz="914400" rtl="0" eaLnBrk="1" latinLnBrk="0" hangingPunct="1">
        <a:spcBef>
          <a:spcPct val="20000"/>
        </a:spcBef>
        <a:buClr>
          <a:schemeClr val="accent2"/>
        </a:buClr>
        <a:buSzPct val="85000"/>
        <a:buFont typeface="Brush Script MT" pitchFamily="66" charset="0"/>
        <a:buChar char="O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2743200" indent="-228600" algn="l" defTabSz="914400" rtl="0" eaLnBrk="1" latinLnBrk="0" hangingPunct="1">
        <a:spcBef>
          <a:spcPct val="20000"/>
        </a:spcBef>
        <a:buClr>
          <a:schemeClr val="accent2"/>
        </a:buClr>
        <a:buSzPct val="85000"/>
        <a:buFont typeface="Brush Script MT" pitchFamily="66" charset="0"/>
        <a:buChar char="O"/>
        <a:defRPr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3108960" indent="-228600" algn="l" defTabSz="914400" rtl="0" eaLnBrk="1" latinLnBrk="0" hangingPunct="1">
        <a:spcBef>
          <a:spcPct val="20000"/>
        </a:spcBef>
        <a:buClr>
          <a:schemeClr val="accent2"/>
        </a:buClr>
        <a:buSzPct val="85000"/>
        <a:buFont typeface="Brush Script MT" pitchFamily="66" charset="0"/>
        <a:buChar char="O"/>
        <a:defRPr sz="1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ru-RU" dirty="0"/>
              <a:t>Основы управления качеством электронных средств</a:t>
            </a:r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ru-RU" dirty="0"/>
              <a:t>Качество сложной системы, показатели качества</a:t>
            </a:r>
          </a:p>
        </p:txBody>
      </p:sp>
    </p:spTree>
    <p:extLst>
      <p:ext uri="{BB962C8B-B14F-4D97-AF65-F5344CB8AC3E}">
        <p14:creationId xmlns:p14="http://schemas.microsoft.com/office/powerpoint/2010/main" val="355479542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1403647" y="692696"/>
            <a:ext cx="6696745" cy="5256584"/>
          </a:xfrm>
        </p:spPr>
        <p:txBody>
          <a:bodyPr>
            <a:normAutofit fontScale="85000" lnSpcReduction="10000"/>
          </a:bodyPr>
          <a:lstStyle/>
          <a:p>
            <a:r>
              <a:rPr lang="ru-RU" dirty="0"/>
              <a:t>Электронные средства (ЭС) – класс устройств, который способен  передавать, принимать, хранить, обрабатывать и выводить некоторую информацию с помощью вычислительных и логических операций по определённым алгоритмам и программам. </a:t>
            </a:r>
            <a:endParaRPr lang="ru-RU" dirty="0" smtClean="0"/>
          </a:p>
          <a:p>
            <a:r>
              <a:rPr lang="ru-RU" dirty="0"/>
              <a:t>Современные ЭС являются сложными устройствами и состоят из функциональных узлов, из которых состоят блоки аппаратуры. В свою очередь, из блоков формируется прибор, из приборов – составляется система, из систем формируется самый сложный из элементов – </a:t>
            </a:r>
            <a:r>
              <a:rPr lang="ru-RU" dirty="0" smtClean="0"/>
              <a:t>комплекс.</a:t>
            </a:r>
          </a:p>
          <a:p>
            <a:r>
              <a:rPr lang="ru-RU" dirty="0"/>
              <a:t>Комплекс – совокупность систем, объединенных общим замыслом для решения определенного круга задач. Отдельные системы, входящие в комплекс, могут находиться на большом расстоянии друг от друга. </a:t>
            </a:r>
          </a:p>
        </p:txBody>
      </p:sp>
    </p:spTree>
    <p:extLst>
      <p:ext uri="{BB962C8B-B14F-4D97-AF65-F5344CB8AC3E}">
        <p14:creationId xmlns:p14="http://schemas.microsoft.com/office/powerpoint/2010/main" val="166371747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755576" y="548680"/>
            <a:ext cx="7488832" cy="5760640"/>
          </a:xfrm>
        </p:spPr>
        <p:txBody>
          <a:bodyPr>
            <a:normAutofit fontScale="55000" lnSpcReduction="20000"/>
          </a:bodyPr>
          <a:lstStyle/>
          <a:p>
            <a:r>
              <a:rPr lang="ru-RU" dirty="0"/>
              <a:t>Классифицировать ЭС можно по следующим видам: </a:t>
            </a:r>
            <a:endParaRPr lang="ru-RU" dirty="0" smtClean="0"/>
          </a:p>
          <a:p>
            <a:r>
              <a:rPr lang="ru-RU" dirty="0" smtClean="0"/>
              <a:t>1.по </a:t>
            </a:r>
            <a:r>
              <a:rPr lang="ru-RU" dirty="0"/>
              <a:t>виду исполнения:</a:t>
            </a:r>
          </a:p>
          <a:p>
            <a:pPr lvl="1"/>
            <a:r>
              <a:rPr lang="ru-RU" dirty="0" smtClean="0"/>
              <a:t>наземные</a:t>
            </a:r>
            <a:r>
              <a:rPr lang="ru-RU" dirty="0"/>
              <a:t>;</a:t>
            </a:r>
          </a:p>
          <a:p>
            <a:pPr lvl="1"/>
            <a:r>
              <a:rPr lang="ru-RU" dirty="0" smtClean="0"/>
              <a:t>бортовые</a:t>
            </a:r>
            <a:r>
              <a:rPr lang="ru-RU" dirty="0"/>
              <a:t>.</a:t>
            </a:r>
          </a:p>
          <a:p>
            <a:r>
              <a:rPr lang="ru-RU" dirty="0" smtClean="0"/>
              <a:t>2.По </a:t>
            </a:r>
            <a:r>
              <a:rPr lang="ru-RU" dirty="0"/>
              <a:t>области применения:</a:t>
            </a:r>
          </a:p>
          <a:p>
            <a:pPr lvl="1"/>
            <a:r>
              <a:rPr lang="ru-RU" dirty="0" smtClean="0"/>
              <a:t>общетехнические</a:t>
            </a:r>
            <a:r>
              <a:rPr lang="ru-RU" dirty="0"/>
              <a:t>;</a:t>
            </a:r>
          </a:p>
          <a:p>
            <a:pPr lvl="1"/>
            <a:r>
              <a:rPr lang="ru-RU" dirty="0" smtClean="0"/>
              <a:t>бытовые</a:t>
            </a:r>
            <a:r>
              <a:rPr lang="ru-RU" dirty="0"/>
              <a:t>;</a:t>
            </a:r>
          </a:p>
          <a:p>
            <a:pPr lvl="1"/>
            <a:r>
              <a:rPr lang="ru-RU" dirty="0" smtClean="0"/>
              <a:t>специальные</a:t>
            </a:r>
            <a:r>
              <a:rPr lang="ru-RU" dirty="0"/>
              <a:t>;</a:t>
            </a:r>
          </a:p>
          <a:p>
            <a:pPr lvl="1"/>
            <a:r>
              <a:rPr lang="ru-RU" dirty="0" smtClean="0"/>
              <a:t>самолетные</a:t>
            </a:r>
            <a:r>
              <a:rPr lang="ru-RU" dirty="0"/>
              <a:t>;</a:t>
            </a:r>
          </a:p>
          <a:p>
            <a:pPr lvl="1"/>
            <a:r>
              <a:rPr lang="ru-RU" dirty="0" smtClean="0"/>
              <a:t>корабельные</a:t>
            </a:r>
            <a:r>
              <a:rPr lang="ru-RU" dirty="0"/>
              <a:t>;</a:t>
            </a:r>
          </a:p>
          <a:p>
            <a:pPr lvl="1"/>
            <a:r>
              <a:rPr lang="ru-RU" dirty="0" smtClean="0"/>
              <a:t>космические</a:t>
            </a:r>
            <a:r>
              <a:rPr lang="ru-RU" dirty="0"/>
              <a:t>.</a:t>
            </a:r>
          </a:p>
          <a:p>
            <a:r>
              <a:rPr lang="ru-RU" dirty="0" smtClean="0"/>
              <a:t>3.По </a:t>
            </a:r>
            <a:r>
              <a:rPr lang="ru-RU" dirty="0"/>
              <a:t>конструктивному исполнению:</a:t>
            </a:r>
          </a:p>
          <a:p>
            <a:pPr lvl="1"/>
            <a:r>
              <a:rPr lang="ru-RU" dirty="0" smtClean="0"/>
              <a:t>стационарные</a:t>
            </a:r>
            <a:r>
              <a:rPr lang="ru-RU" dirty="0"/>
              <a:t>;</a:t>
            </a:r>
          </a:p>
          <a:p>
            <a:pPr lvl="1"/>
            <a:r>
              <a:rPr lang="ru-RU" dirty="0" smtClean="0"/>
              <a:t>перевозимые</a:t>
            </a:r>
            <a:r>
              <a:rPr lang="ru-RU" dirty="0"/>
              <a:t>;</a:t>
            </a:r>
          </a:p>
          <a:p>
            <a:pPr lvl="1"/>
            <a:r>
              <a:rPr lang="ru-RU" dirty="0" smtClean="0"/>
              <a:t>носимые</a:t>
            </a:r>
            <a:r>
              <a:rPr lang="ru-RU" dirty="0"/>
              <a:t>.</a:t>
            </a:r>
          </a:p>
          <a:p>
            <a:r>
              <a:rPr lang="ru-RU" dirty="0" smtClean="0"/>
              <a:t>4.По </a:t>
            </a:r>
            <a:r>
              <a:rPr lang="ru-RU" dirty="0"/>
              <a:t>принципу действия:</a:t>
            </a:r>
          </a:p>
          <a:p>
            <a:pPr lvl="1"/>
            <a:r>
              <a:rPr lang="ru-RU" dirty="0" smtClean="0"/>
              <a:t>цифровые</a:t>
            </a:r>
            <a:r>
              <a:rPr lang="ru-RU" dirty="0"/>
              <a:t>;</a:t>
            </a:r>
          </a:p>
          <a:p>
            <a:pPr lvl="1"/>
            <a:r>
              <a:rPr lang="ru-RU" dirty="0" smtClean="0"/>
              <a:t>аналоговые</a:t>
            </a:r>
            <a:r>
              <a:rPr lang="ru-RU" dirty="0"/>
              <a:t>;</a:t>
            </a:r>
          </a:p>
          <a:p>
            <a:pPr lvl="1"/>
            <a:r>
              <a:rPr lang="ru-RU" dirty="0" smtClean="0"/>
              <a:t>аналого-цифровые.</a:t>
            </a:r>
          </a:p>
          <a:p>
            <a:r>
              <a:rPr lang="ru-RU" dirty="0" smtClean="0"/>
              <a:t>5.По </a:t>
            </a:r>
            <a:r>
              <a:rPr lang="ru-RU" dirty="0"/>
              <a:t>назначению:</a:t>
            </a:r>
          </a:p>
          <a:p>
            <a:pPr lvl="1"/>
            <a:r>
              <a:rPr lang="ru-RU" dirty="0" smtClean="0"/>
              <a:t>универсальные</a:t>
            </a:r>
            <a:r>
              <a:rPr lang="ru-RU" dirty="0"/>
              <a:t>;</a:t>
            </a:r>
          </a:p>
          <a:p>
            <a:pPr lvl="1"/>
            <a:r>
              <a:rPr lang="ru-RU" dirty="0" smtClean="0"/>
              <a:t>управляющие</a:t>
            </a:r>
            <a:r>
              <a:rPr lang="ru-RU" dirty="0"/>
              <a:t>;</a:t>
            </a:r>
          </a:p>
          <a:p>
            <a:pPr lvl="1"/>
            <a:r>
              <a:rPr lang="ru-RU" dirty="0" smtClean="0"/>
              <a:t>контрольные</a:t>
            </a:r>
            <a:r>
              <a:rPr lang="ru-RU" dirty="0"/>
              <a:t>.</a:t>
            </a:r>
          </a:p>
          <a:p>
            <a:r>
              <a:rPr lang="ru-RU" dirty="0" smtClean="0"/>
              <a:t>6.По </a:t>
            </a:r>
            <a:r>
              <a:rPr lang="ru-RU" dirty="0"/>
              <a:t>элементной базе:</a:t>
            </a:r>
          </a:p>
          <a:p>
            <a:pPr lvl="1"/>
            <a:r>
              <a:rPr lang="ru-RU" dirty="0" smtClean="0"/>
              <a:t>на </a:t>
            </a:r>
            <a:r>
              <a:rPr lang="ru-RU" dirty="0"/>
              <a:t>дискретных полупроводниковых приборах;</a:t>
            </a:r>
          </a:p>
          <a:p>
            <a:pPr lvl="1"/>
            <a:r>
              <a:rPr lang="ru-RU" dirty="0" smtClean="0"/>
              <a:t>на </a:t>
            </a:r>
            <a:r>
              <a:rPr lang="ru-RU" dirty="0"/>
              <a:t>интегральных микросхемах (ИМС);</a:t>
            </a:r>
          </a:p>
          <a:p>
            <a:pPr lvl="1"/>
            <a:r>
              <a:rPr lang="ru-RU" dirty="0" smtClean="0"/>
              <a:t>на </a:t>
            </a:r>
            <a:r>
              <a:rPr lang="ru-RU" dirty="0"/>
              <a:t>больших интегральных схемах (БИС);</a:t>
            </a:r>
          </a:p>
          <a:p>
            <a:pPr lvl="1"/>
            <a:r>
              <a:rPr lang="ru-RU" dirty="0" smtClean="0"/>
              <a:t>на </a:t>
            </a:r>
            <a:r>
              <a:rPr lang="ru-RU" dirty="0"/>
              <a:t>сверхбольших интегральных схемах (СБИС).</a:t>
            </a:r>
          </a:p>
        </p:txBody>
      </p:sp>
    </p:spTree>
    <p:extLst>
      <p:ext uri="{BB962C8B-B14F-4D97-AF65-F5344CB8AC3E}">
        <p14:creationId xmlns:p14="http://schemas.microsoft.com/office/powerpoint/2010/main" val="123237753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400" y="2276872"/>
            <a:ext cx="8839200" cy="27051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15879692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899592" y="836712"/>
            <a:ext cx="7416824" cy="5544616"/>
          </a:xfrm>
        </p:spPr>
        <p:txBody>
          <a:bodyPr>
            <a:normAutofit fontScale="92500" lnSpcReduction="20000"/>
          </a:bodyPr>
          <a:lstStyle/>
          <a:p>
            <a:pPr lvl="0"/>
            <a:r>
              <a:rPr lang="ru-RU" dirty="0"/>
              <a:t>Современные ЭС являются сложными техническими системами (ТС) и обладают следующими свойствами</a:t>
            </a:r>
            <a:r>
              <a:rPr lang="ru-RU" dirty="0" smtClean="0"/>
              <a:t>:</a:t>
            </a:r>
          </a:p>
          <a:p>
            <a:pPr lvl="1"/>
            <a:r>
              <a:rPr lang="ru-RU" dirty="0" smtClean="0"/>
              <a:t>большое </a:t>
            </a:r>
            <a:r>
              <a:rPr lang="ru-RU" dirty="0"/>
              <a:t>число взаимосвязанных элементов, узлов и деталей;</a:t>
            </a:r>
          </a:p>
          <a:p>
            <a:pPr lvl="1"/>
            <a:r>
              <a:rPr lang="ru-RU" dirty="0" smtClean="0"/>
              <a:t>большое </a:t>
            </a:r>
            <a:r>
              <a:rPr lang="ru-RU" dirty="0"/>
              <a:t>число внутренних и внешних связей;</a:t>
            </a:r>
          </a:p>
          <a:p>
            <a:pPr lvl="1"/>
            <a:r>
              <a:rPr lang="ru-RU" dirty="0" smtClean="0"/>
              <a:t>взаимодействие </a:t>
            </a:r>
            <a:r>
              <a:rPr lang="ru-RU" dirty="0"/>
              <a:t>системы с окружающей средой и человеком-оператором (при котором может снижаться надежность, точность, а, следовательно, происходить разрушение аппаратуры);</a:t>
            </a:r>
          </a:p>
          <a:p>
            <a:pPr lvl="1"/>
            <a:r>
              <a:rPr lang="ru-RU" dirty="0" smtClean="0"/>
              <a:t>иерархичность </a:t>
            </a:r>
            <a:r>
              <a:rPr lang="ru-RU" dirty="0"/>
              <a:t>структуры;</a:t>
            </a:r>
          </a:p>
          <a:p>
            <a:pPr lvl="1"/>
            <a:r>
              <a:rPr lang="ru-RU" dirty="0" smtClean="0"/>
              <a:t>стохастический </a:t>
            </a:r>
            <a:r>
              <a:rPr lang="ru-RU" dirty="0"/>
              <a:t>характер поведения системы (случайный, непредсказуемый);</a:t>
            </a:r>
          </a:p>
          <a:p>
            <a:pPr lvl="1"/>
            <a:r>
              <a:rPr lang="ru-RU" dirty="0" smtClean="0"/>
              <a:t>изменчивость </a:t>
            </a:r>
            <a:r>
              <a:rPr lang="ru-RU" dirty="0"/>
              <a:t>системы во времени (при этом происходит старение, сбои</a:t>
            </a:r>
            <a:r>
              <a:rPr lang="ru-RU" dirty="0" smtClean="0"/>
              <a:t>).</a:t>
            </a:r>
          </a:p>
          <a:p>
            <a:r>
              <a:rPr lang="ru-RU" dirty="0" smtClean="0"/>
              <a:t>Совокупность взаимосвязанных сложных технических систем представляет собой большую систему.</a:t>
            </a:r>
          </a:p>
          <a:p>
            <a:pPr lvl="1"/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42235412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755576" y="620688"/>
            <a:ext cx="7632848" cy="5616624"/>
          </a:xfrm>
        </p:spPr>
        <p:txBody>
          <a:bodyPr/>
          <a:lstStyle/>
          <a:p>
            <a:r>
              <a:rPr lang="ru-RU" dirty="0"/>
              <a:t>Философское </a:t>
            </a:r>
            <a:r>
              <a:rPr lang="ru-RU" dirty="0" smtClean="0"/>
              <a:t>определение категории качества сформулированное </a:t>
            </a:r>
            <a:r>
              <a:rPr lang="ru-RU" dirty="0"/>
              <a:t>еще Гегелем, раскрывается им как определённость, которая тождественна с бытием. «Качество есть вообще тождественная с бытием, непосредственная определённость</a:t>
            </a:r>
            <a:r>
              <a:rPr lang="ru-RU" dirty="0" smtClean="0"/>
              <a:t>…». </a:t>
            </a:r>
            <a:r>
              <a:rPr lang="ru-RU" dirty="0"/>
              <a:t>Нечто есть то, что оно есть, благодаря своему качеству, и, теряя своё качество, оно перестаёт быть тем, что оно есть. </a:t>
            </a:r>
            <a:endParaRPr lang="ru-RU" dirty="0" smtClean="0"/>
          </a:p>
          <a:p>
            <a:r>
              <a:rPr lang="ru-RU" dirty="0" smtClean="0"/>
              <a:t>Качественная </a:t>
            </a:r>
            <a:r>
              <a:rPr lang="ru-RU" dirty="0"/>
              <a:t>определённость, по Гегелю, «Едина со всем бытием, она не выходит за свои пределы и не находится также внутри его, а есть его непосредственная ограниченность».</a:t>
            </a:r>
          </a:p>
        </p:txBody>
      </p:sp>
    </p:spTree>
    <p:extLst>
      <p:ext uri="{BB962C8B-B14F-4D97-AF65-F5344CB8AC3E}">
        <p14:creationId xmlns:p14="http://schemas.microsoft.com/office/powerpoint/2010/main" val="361501908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1043608" y="764704"/>
            <a:ext cx="7056784" cy="5256584"/>
          </a:xfrm>
        </p:spPr>
        <p:txBody>
          <a:bodyPr/>
          <a:lstStyle/>
          <a:p>
            <a:r>
              <a:rPr lang="ru-RU" dirty="0"/>
              <a:t>ГОСТ 15467-79: «Управление качеством продукции. Основные понятия. Термины и определения»: «Качество – совокупность свойств продукции, обусловливающих ее пригодность удовлетворять определенные потребности в соответствии с ее назначением».</a:t>
            </a:r>
          </a:p>
        </p:txBody>
      </p:sp>
    </p:spTree>
    <p:extLst>
      <p:ext uri="{BB962C8B-B14F-4D97-AF65-F5344CB8AC3E}">
        <p14:creationId xmlns:p14="http://schemas.microsoft.com/office/powerpoint/2010/main" val="93343966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ъект 1"/>
          <p:cNvSpPr>
            <a:spLocks noGrp="1"/>
          </p:cNvSpPr>
          <p:nvPr>
            <p:ph idx="1"/>
          </p:nvPr>
        </p:nvSpPr>
        <p:spPr>
          <a:xfrm>
            <a:off x="827584" y="620688"/>
            <a:ext cx="7488832" cy="5616624"/>
          </a:xfrm>
        </p:spPr>
        <p:txBody>
          <a:bodyPr>
            <a:normAutofit/>
          </a:bodyPr>
          <a:lstStyle/>
          <a:p>
            <a:r>
              <a:rPr lang="ru-RU" dirty="0"/>
              <a:t>Совокупность свойств не может быть плохой или хорошей вообще. Качество может быть только относительным. Если необходимо дать оценку качества продукции, то надо сравнить данный набор свойств (совокупность свойств) с каким-то эталоном. Эталоном могут быть лучшие отечественные или международные образцы, требования, закрепленные в стандартах или технических условиях. При этом применяется термин «уровень качества» (в зарубежной литературе – «относительное качество», «мера качества»).</a:t>
            </a:r>
          </a:p>
        </p:txBody>
      </p:sp>
    </p:spTree>
    <p:extLst>
      <p:ext uri="{BB962C8B-B14F-4D97-AF65-F5344CB8AC3E}">
        <p14:creationId xmlns:p14="http://schemas.microsoft.com/office/powerpoint/2010/main" val="228170076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1043608" y="764704"/>
            <a:ext cx="7056784" cy="5400600"/>
          </a:xfrm>
        </p:spPr>
        <p:txBody>
          <a:bodyPr>
            <a:normAutofit/>
          </a:bodyPr>
          <a:lstStyle/>
          <a:p>
            <a:r>
              <a:rPr lang="ru-RU" dirty="0"/>
              <a:t>Следовательно, </a:t>
            </a:r>
            <a:r>
              <a:rPr lang="ru-RU" b="1" i="1" dirty="0"/>
              <a:t>качество как экономическая категория</a:t>
            </a:r>
            <a:r>
              <a:rPr lang="ru-RU" dirty="0"/>
              <a:t> — это общественная оценка, характеризующая степень удовлетворения потребностей в конкретных условиях потребления той совокупности свойств, которые явно выражены или потенциально заложены в товаре</a:t>
            </a:r>
            <a:r>
              <a:rPr lang="ru-RU" dirty="0" smtClean="0"/>
              <a:t>.</a:t>
            </a:r>
          </a:p>
          <a:p>
            <a:r>
              <a:rPr lang="ru-RU" dirty="0" smtClean="0"/>
              <a:t>Под </a:t>
            </a:r>
            <a:r>
              <a:rPr lang="ru-RU" dirty="0"/>
              <a:t>качеством </a:t>
            </a:r>
            <a:r>
              <a:rPr lang="ru-RU" dirty="0" smtClean="0"/>
              <a:t>будем понимать, </a:t>
            </a:r>
            <a:r>
              <a:rPr lang="ru-RU" dirty="0"/>
              <a:t>прежде всего </a:t>
            </a:r>
            <a:r>
              <a:rPr lang="ru-RU" b="1" i="1" dirty="0"/>
              <a:t>совокупность количественных показателей ЭС – ТС</a:t>
            </a:r>
            <a:r>
              <a:rPr lang="ru-RU" dirty="0"/>
              <a:t>, которая отвечает требованиям ТУ, благодаря чему ЭС может быть использовано по назначению.</a:t>
            </a:r>
          </a:p>
        </p:txBody>
      </p:sp>
    </p:spTree>
    <p:extLst>
      <p:ext uri="{BB962C8B-B14F-4D97-AF65-F5344CB8AC3E}">
        <p14:creationId xmlns:p14="http://schemas.microsoft.com/office/powerpoint/2010/main" val="78921237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755576" y="764704"/>
            <a:ext cx="7632848" cy="5544616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ru-RU" b="1" i="1" dirty="0"/>
              <a:t>Показатели </a:t>
            </a:r>
            <a:r>
              <a:rPr lang="ru-RU" b="1" i="1" dirty="0" smtClean="0"/>
              <a:t>качества</a:t>
            </a:r>
          </a:p>
          <a:p>
            <a:r>
              <a:rPr lang="ru-RU" dirty="0"/>
              <a:t>Показатель качества – это количественное выражение одного или нескольких характеристик или свойств объекта применительно к определенным условиям его создания и </a:t>
            </a:r>
            <a:r>
              <a:rPr lang="ru-RU" dirty="0" smtClean="0"/>
              <a:t>эксплуатации.</a:t>
            </a:r>
          </a:p>
          <a:p>
            <a:r>
              <a:rPr lang="ru-RU" dirty="0"/>
              <a:t>Система показателей качества продукции необходима для отражения экономической сущности качества через технические характеристики и свойства. Необходимо отметить, что многие показатели качества имеют вероятностный характер, поэтому для их учета используются методы математической статистики.</a:t>
            </a:r>
          </a:p>
        </p:txBody>
      </p:sp>
    </p:spTree>
    <p:extLst>
      <p:ext uri="{BB962C8B-B14F-4D97-AF65-F5344CB8AC3E}">
        <p14:creationId xmlns:p14="http://schemas.microsoft.com/office/powerpoint/2010/main" val="398923012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827584" y="692696"/>
            <a:ext cx="7560840" cy="5544616"/>
          </a:xfrm>
        </p:spPr>
        <p:txBody>
          <a:bodyPr/>
          <a:lstStyle/>
          <a:p>
            <a:r>
              <a:rPr lang="ru-RU" dirty="0"/>
              <a:t>Наиболее широко в практике оценки уровня качества используются единичные показатели, имеющие отношение к одному из свойств (характеристик) качества продукции. Единичные показатели легко поддаются сравнению и контролю.</a:t>
            </a:r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63688" y="3068960"/>
            <a:ext cx="5811348" cy="295200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5" name="TextBox 4"/>
          <p:cNvSpPr txBox="1"/>
          <p:nvPr/>
        </p:nvSpPr>
        <p:spPr>
          <a:xfrm>
            <a:off x="3242368" y="3203684"/>
            <a:ext cx="14269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 smtClean="0"/>
              <a:t>Показатели</a:t>
            </a:r>
            <a:endParaRPr lang="ru-RU" dirty="0"/>
          </a:p>
        </p:txBody>
      </p:sp>
      <p:sp>
        <p:nvSpPr>
          <p:cNvPr id="9" name="TextBox 8"/>
          <p:cNvSpPr txBox="1"/>
          <p:nvPr/>
        </p:nvSpPr>
        <p:spPr>
          <a:xfrm>
            <a:off x="1979712" y="4339094"/>
            <a:ext cx="166494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600" dirty="0" smtClean="0"/>
              <a:t>Экономические</a:t>
            </a:r>
            <a:endParaRPr lang="ru-RU" sz="1600" dirty="0"/>
          </a:p>
        </p:txBody>
      </p:sp>
      <p:sp>
        <p:nvSpPr>
          <p:cNvPr id="10" name="TextBox 9"/>
          <p:cNvSpPr txBox="1"/>
          <p:nvPr/>
        </p:nvSpPr>
        <p:spPr>
          <a:xfrm>
            <a:off x="4410951" y="4291310"/>
            <a:ext cx="152920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 smtClean="0"/>
              <a:t>Технические</a:t>
            </a:r>
            <a:endParaRPr lang="ru-RU" dirty="0"/>
          </a:p>
        </p:txBody>
      </p:sp>
      <p:sp>
        <p:nvSpPr>
          <p:cNvPr id="11" name="TextBox 10"/>
          <p:cNvSpPr txBox="1"/>
          <p:nvPr/>
        </p:nvSpPr>
        <p:spPr>
          <a:xfrm>
            <a:off x="3065813" y="5399732"/>
            <a:ext cx="178010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400" dirty="0" smtClean="0"/>
              <a:t>Эксплуатационные</a:t>
            </a:r>
            <a:endParaRPr lang="ru-RU" sz="1400" dirty="0"/>
          </a:p>
        </p:txBody>
      </p:sp>
      <p:sp>
        <p:nvSpPr>
          <p:cNvPr id="12" name="TextBox 11"/>
          <p:cNvSpPr txBox="1"/>
          <p:nvPr/>
        </p:nvSpPr>
        <p:spPr>
          <a:xfrm>
            <a:off x="5504568" y="5368955"/>
            <a:ext cx="187705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600" dirty="0" smtClean="0"/>
              <a:t>Произв.-технолог.</a:t>
            </a:r>
            <a:endParaRPr lang="ru-RU" sz="1600" dirty="0"/>
          </a:p>
        </p:txBody>
      </p:sp>
    </p:spTree>
    <p:extLst>
      <p:ext uri="{BB962C8B-B14F-4D97-AF65-F5344CB8AC3E}">
        <p14:creationId xmlns:p14="http://schemas.microsoft.com/office/powerpoint/2010/main" val="262301866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683568" y="548680"/>
            <a:ext cx="7704856" cy="5976664"/>
          </a:xfrm>
        </p:spPr>
        <p:txBody>
          <a:bodyPr>
            <a:noAutofit/>
          </a:bodyPr>
          <a:lstStyle/>
          <a:p>
            <a:pPr lvl="0"/>
            <a:r>
              <a:rPr lang="ru-RU" sz="1600" dirty="0"/>
              <a:t>К эксплуатационным показателям относятся</a:t>
            </a:r>
            <a:r>
              <a:rPr lang="ru-RU" sz="1600" dirty="0" smtClean="0"/>
              <a:t>:</a:t>
            </a:r>
          </a:p>
          <a:p>
            <a:pPr lvl="1"/>
            <a:r>
              <a:rPr lang="ru-RU" sz="1400" dirty="0" smtClean="0"/>
              <a:t>показатели </a:t>
            </a:r>
            <a:r>
              <a:rPr lang="ru-RU" sz="1400" dirty="0"/>
              <a:t>назначения – характеризуют степень соответствия объекта целевому назначению, конструктивному исполнению, устойчивости к внешним воздействиям. К ним можно отнести, например, коэффициент полезного действия машины, производительность, потребляемую мощность, степень автоматизации и т.д.;</a:t>
            </a:r>
          </a:p>
          <a:p>
            <a:pPr lvl="1"/>
            <a:r>
              <a:rPr lang="ru-RU" sz="1400" dirty="0" smtClean="0"/>
              <a:t>показатели </a:t>
            </a:r>
            <a:r>
              <a:rPr lang="ru-RU" sz="1400" dirty="0"/>
              <a:t>надежности характеризуют изделие с точки зрения надежности эксплуатации, например, безотказность, ремонтопригодность, долговечность и т.д.;</a:t>
            </a:r>
          </a:p>
          <a:p>
            <a:pPr lvl="1"/>
            <a:r>
              <a:rPr lang="ru-RU" sz="1400" dirty="0" smtClean="0"/>
              <a:t>эргономические </a:t>
            </a:r>
            <a:r>
              <a:rPr lang="ru-RU" sz="1400" dirty="0"/>
              <a:t>показатели характеризуют в целом систему «машина-человек», учитывают антропометрические, биомеханические, инженерно-психологические свойства человека, проявляющиеся при эксплуатации объекта или в производственном процессе; технико-эстетические показатели характеризуются композиционной целостностью формы, функциональной целесообразностью формы (например, обтекаемость), товарным видом объекта; </a:t>
            </a:r>
            <a:endParaRPr lang="ru-RU" sz="1400" dirty="0" smtClean="0"/>
          </a:p>
          <a:p>
            <a:pPr lvl="1"/>
            <a:r>
              <a:rPr lang="ru-RU" sz="1400" dirty="0" smtClean="0"/>
              <a:t>экологические </a:t>
            </a:r>
            <a:r>
              <a:rPr lang="ru-RU" sz="1400" dirty="0"/>
              <a:t>показатели;</a:t>
            </a:r>
          </a:p>
          <a:p>
            <a:pPr lvl="1"/>
            <a:r>
              <a:rPr lang="ru-RU" sz="1400" dirty="0" smtClean="0"/>
              <a:t>патентно-правовые </a:t>
            </a:r>
            <a:r>
              <a:rPr lang="ru-RU" sz="1400" dirty="0"/>
              <a:t>показатели характеризуют количество и весомость новых изобретений, патентов, реализованных в объекте. Патентная чистота объекта сегодня является важным фактором конкурентоспособности продукции на международных рынках;</a:t>
            </a:r>
          </a:p>
          <a:p>
            <a:pPr lvl="1"/>
            <a:r>
              <a:rPr lang="ru-RU" sz="1400" dirty="0" smtClean="0"/>
              <a:t>прочие</a:t>
            </a:r>
            <a:r>
              <a:rPr lang="ru-RU" sz="14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29823630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899592" y="692696"/>
            <a:ext cx="7344816" cy="5400600"/>
          </a:xfrm>
        </p:spPr>
        <p:txBody>
          <a:bodyPr>
            <a:normAutofit fontScale="92500" lnSpcReduction="20000"/>
          </a:bodyPr>
          <a:lstStyle/>
          <a:p>
            <a:pPr lvl="0"/>
            <a:r>
              <a:rPr lang="ru-RU" dirty="0"/>
              <a:t>К производственно-технологическим показателям относятся следующие: </a:t>
            </a:r>
            <a:endParaRPr lang="ru-RU" dirty="0" smtClean="0"/>
          </a:p>
          <a:p>
            <a:pPr lvl="1"/>
            <a:r>
              <a:rPr lang="ru-RU" dirty="0" smtClean="0"/>
              <a:t>показатели </a:t>
            </a:r>
            <a:r>
              <a:rPr lang="ru-RU" dirty="0"/>
              <a:t>технологичности – показатели, обеспечивающие рациональное использование материалов, средств труда и времени в процессе технологического цикла;</a:t>
            </a:r>
          </a:p>
          <a:p>
            <a:pPr lvl="1"/>
            <a:r>
              <a:rPr lang="ru-RU" dirty="0" smtClean="0"/>
              <a:t>показатели </a:t>
            </a:r>
            <a:r>
              <a:rPr lang="ru-RU" dirty="0"/>
              <a:t>стандартизации и унификации характеризуют насыщенность продукции стандартными, унифицированными и оригинальными составными частями, а также уровень унификации по сравнению с другими изделиями. Все изделия могут быть подразделены на: стандартные, унифицированные и оригинальные. Чем выше коэффициент стандартизации и унификации изделия, тем оно лучше с точки зрения производства и эксплуатации, тем меньше сроки проектирования и отработки новых изделий, но, с другой стороны, изделие изготавливается по старым технологиям, проектируется из тех же узлов, что снижает конкурентоспособность продукции; </a:t>
            </a:r>
          </a:p>
        </p:txBody>
      </p:sp>
    </p:spTree>
    <p:extLst>
      <p:ext uri="{BB962C8B-B14F-4D97-AF65-F5344CB8AC3E}">
        <p14:creationId xmlns:p14="http://schemas.microsoft.com/office/powerpoint/2010/main" val="121891056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827584" y="620688"/>
            <a:ext cx="7416824" cy="5544616"/>
          </a:xfrm>
        </p:spPr>
        <p:txBody>
          <a:bodyPr>
            <a:normAutofit fontScale="92500"/>
          </a:bodyPr>
          <a:lstStyle/>
          <a:p>
            <a:pPr lvl="1"/>
            <a:r>
              <a:rPr lang="ru-RU" dirty="0"/>
              <a:t>Показатели транспортабельности отражают степень возможности транспортировки изделия различным транспортом без нарушения его свойств</a:t>
            </a:r>
            <a:r>
              <a:rPr lang="ru-RU" dirty="0" smtClean="0"/>
              <a:t>;</a:t>
            </a:r>
          </a:p>
          <a:p>
            <a:pPr lvl="1"/>
            <a:r>
              <a:rPr lang="ru-RU" dirty="0" smtClean="0"/>
              <a:t>трудоемкость</a:t>
            </a:r>
            <a:r>
              <a:rPr lang="ru-RU" dirty="0"/>
              <a:t>;</a:t>
            </a:r>
          </a:p>
          <a:p>
            <a:pPr lvl="1"/>
            <a:r>
              <a:rPr lang="ru-RU" dirty="0" smtClean="0"/>
              <a:t>материалоемкость</a:t>
            </a:r>
            <a:r>
              <a:rPr lang="ru-RU" dirty="0"/>
              <a:t>;</a:t>
            </a:r>
          </a:p>
          <a:p>
            <a:pPr lvl="1"/>
            <a:r>
              <a:rPr lang="ru-RU" dirty="0" smtClean="0"/>
              <a:t>энергоемкость</a:t>
            </a:r>
            <a:r>
              <a:rPr lang="ru-RU" dirty="0"/>
              <a:t>;</a:t>
            </a:r>
          </a:p>
          <a:p>
            <a:pPr lvl="1"/>
            <a:r>
              <a:rPr lang="ru-RU" dirty="0" err="1" smtClean="0"/>
              <a:t>блочность</a:t>
            </a:r>
            <a:r>
              <a:rPr lang="ru-RU" dirty="0" smtClean="0"/>
              <a:t> </a:t>
            </a:r>
            <a:r>
              <a:rPr lang="ru-RU" dirty="0"/>
              <a:t>характеризует сложность работы по монтажу оборудования, состоящего из сборок, и определяется отношением числа специализированных (приспособленных) сборок к общему числу частей</a:t>
            </a:r>
            <a:r>
              <a:rPr lang="ru-RU" dirty="0" smtClean="0"/>
              <a:t>.</a:t>
            </a:r>
          </a:p>
          <a:p>
            <a:pPr lvl="0"/>
            <a:r>
              <a:rPr lang="ru-RU" dirty="0"/>
              <a:t>К экономическим показателям относятся: капиталовложения в производство, капиталовложения в эксплуатацию, себестоимость единицы продукции, отпускная или рыночная цена. </a:t>
            </a:r>
          </a:p>
        </p:txBody>
      </p:sp>
    </p:spTree>
    <p:extLst>
      <p:ext uri="{BB962C8B-B14F-4D97-AF65-F5344CB8AC3E}">
        <p14:creationId xmlns:p14="http://schemas.microsoft.com/office/powerpoint/2010/main" val="391846898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971600" y="764704"/>
            <a:ext cx="7128792" cy="5328592"/>
          </a:xfrm>
        </p:spPr>
        <p:txBody>
          <a:bodyPr>
            <a:normAutofit fontScale="70000" lnSpcReduction="20000"/>
          </a:bodyPr>
          <a:lstStyle/>
          <a:p>
            <a:pPr lvl="0" algn="ctr"/>
            <a:r>
              <a:rPr lang="ru-RU" b="1" i="1" dirty="0"/>
              <a:t>Методы определения величины показателей </a:t>
            </a:r>
            <a:r>
              <a:rPr lang="ru-RU" b="1" i="1" dirty="0" smtClean="0"/>
              <a:t>качества</a:t>
            </a:r>
          </a:p>
          <a:p>
            <a:pPr lvl="0"/>
            <a:r>
              <a:rPr lang="ru-RU" dirty="0"/>
              <a:t>инструментальные, с использованием различных измерительных и контрольных приборов; </a:t>
            </a:r>
            <a:endParaRPr lang="ru-RU" dirty="0" smtClean="0"/>
          </a:p>
          <a:p>
            <a:pPr lvl="0"/>
            <a:r>
              <a:rPr lang="ru-RU" dirty="0" smtClean="0"/>
              <a:t>расчетно-аналитические</a:t>
            </a:r>
            <a:r>
              <a:rPr lang="ru-RU" dirty="0"/>
              <a:t>, путем расчета показателей и установления взаимосвязи между ними (например, определение производительности станочного оборудования по величине подачи);</a:t>
            </a:r>
          </a:p>
          <a:p>
            <a:pPr lvl="0"/>
            <a:r>
              <a:rPr lang="ru-RU" dirty="0" smtClean="0"/>
              <a:t>опытные</a:t>
            </a:r>
            <a:r>
              <a:rPr lang="ru-RU" dirty="0"/>
              <a:t>, позволяющие путем испытаний установить, а в отдельных случаях и проверить, значение показателей, найденных другими методами (например, испытание автомобилей на полигоне, ускоренные испытания двигателей и т.д.);</a:t>
            </a:r>
          </a:p>
          <a:p>
            <a:pPr lvl="0"/>
            <a:r>
              <a:rPr lang="ru-RU" dirty="0" smtClean="0"/>
              <a:t>лабораторные</a:t>
            </a:r>
            <a:r>
              <a:rPr lang="ru-RU" dirty="0"/>
              <a:t>, служащие для определения показателей с помощью анализов и испытаний</a:t>
            </a:r>
            <a:r>
              <a:rPr lang="ru-RU" dirty="0" smtClean="0"/>
              <a:t>;</a:t>
            </a:r>
          </a:p>
          <a:p>
            <a:pPr lvl="0"/>
            <a:r>
              <a:rPr lang="ru-RU" dirty="0" smtClean="0"/>
              <a:t>органолептические</a:t>
            </a:r>
            <a:r>
              <a:rPr lang="ru-RU" dirty="0"/>
              <a:t>, заключающиеся в определении показателей с помощью органов чувств (например, контроль окраски, наличие царапин и т.д.);</a:t>
            </a:r>
          </a:p>
          <a:p>
            <a:pPr lvl="0"/>
            <a:r>
              <a:rPr lang="ru-RU" dirty="0" smtClean="0"/>
              <a:t>социальные</a:t>
            </a:r>
            <a:r>
              <a:rPr lang="ru-RU" dirty="0"/>
              <a:t>, позволяющие определить качество путем анкетного опроса потребителей;</a:t>
            </a:r>
          </a:p>
          <a:p>
            <a:pPr lvl="0"/>
            <a:r>
              <a:rPr lang="ru-RU" dirty="0" smtClean="0"/>
              <a:t>балльные</a:t>
            </a:r>
            <a:r>
              <a:rPr lang="ru-RU" dirty="0"/>
              <a:t>, позволяющие оценить отдельные показатели, не имеющие общепринятых размерностей, с помощью баллов;</a:t>
            </a:r>
          </a:p>
          <a:p>
            <a:pPr lvl="0"/>
            <a:r>
              <a:rPr lang="ru-RU" dirty="0" smtClean="0"/>
              <a:t>экспертные</a:t>
            </a:r>
            <a:r>
              <a:rPr lang="ru-RU" dirty="0"/>
              <a:t>, с использованием экспертов в анкетных опросах, с целью получения более точных значений величины показателя.</a:t>
            </a:r>
          </a:p>
        </p:txBody>
      </p:sp>
    </p:spTree>
    <p:extLst>
      <p:ext uri="{BB962C8B-B14F-4D97-AF65-F5344CB8AC3E}">
        <p14:creationId xmlns:p14="http://schemas.microsoft.com/office/powerpoint/2010/main" val="81268133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827584" y="692696"/>
            <a:ext cx="7560840" cy="5544616"/>
          </a:xfrm>
        </p:spPr>
        <p:txBody>
          <a:bodyPr>
            <a:normAutofit/>
          </a:bodyPr>
          <a:lstStyle/>
          <a:p>
            <a:pPr algn="ctr"/>
            <a:r>
              <a:rPr lang="ru-RU" b="1" i="1" dirty="0"/>
              <a:t>Жизненный цикл электронного средства</a:t>
            </a:r>
            <a:r>
              <a:rPr lang="ru-RU" b="1" i="1" dirty="0" smtClean="0"/>
              <a:t>.</a:t>
            </a:r>
          </a:p>
          <a:p>
            <a:r>
              <a:rPr lang="ru-RU" dirty="0"/>
              <a:t>Жизненный цикл изделия – отрезок времени от момента начала разработки изделия до момента снятия его с эксплуатации. </a:t>
            </a:r>
          </a:p>
          <a:p>
            <a:r>
              <a:rPr lang="ru-RU" dirty="0"/>
              <a:t>Конец жизненного цикла обусловлен моральным старением ЭС, а моральное старение связано с внедрением современных ЭС с лучшими параметрами. Таким образом, этапы жизненного цикла в своей совокупности образуют «спираль качества»</a:t>
            </a:r>
          </a:p>
        </p:txBody>
      </p:sp>
    </p:spTree>
    <p:extLst>
      <p:ext uri="{BB962C8B-B14F-4D97-AF65-F5344CB8AC3E}">
        <p14:creationId xmlns:p14="http://schemas.microsoft.com/office/powerpoint/2010/main" val="103982037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ъект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7584" y="1556792"/>
            <a:ext cx="7197417" cy="381642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65205214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899592" y="692696"/>
            <a:ext cx="7344816" cy="5472608"/>
          </a:xfrm>
        </p:spPr>
        <p:txBody>
          <a:bodyPr>
            <a:normAutofit lnSpcReduction="10000"/>
          </a:bodyPr>
          <a:lstStyle/>
          <a:p>
            <a:r>
              <a:rPr lang="ru-RU" dirty="0"/>
              <a:t>Информационная поддержка жизненного цикла изделий  находит воплощение в CALS – технологиях, связанных с формированием единого информационного пространства, объединяющего все этапы жизненного цикла (CALS – </a:t>
            </a:r>
            <a:r>
              <a:rPr lang="ru-RU" dirty="0" err="1"/>
              <a:t>Continuous</a:t>
            </a:r>
            <a:r>
              <a:rPr lang="ru-RU" dirty="0"/>
              <a:t> </a:t>
            </a:r>
            <a:r>
              <a:rPr lang="ru-RU" dirty="0" err="1"/>
              <a:t>Acquisition</a:t>
            </a:r>
            <a:r>
              <a:rPr lang="ru-RU" dirty="0"/>
              <a:t> </a:t>
            </a:r>
            <a:r>
              <a:rPr lang="ru-RU" dirty="0" err="1"/>
              <a:t>and</a:t>
            </a:r>
            <a:r>
              <a:rPr lang="ru-RU" dirty="0"/>
              <a:t> </a:t>
            </a:r>
            <a:r>
              <a:rPr lang="ru-RU" dirty="0" err="1"/>
              <a:t>Life-cycle</a:t>
            </a:r>
            <a:r>
              <a:rPr lang="ru-RU" dirty="0"/>
              <a:t> </a:t>
            </a:r>
            <a:r>
              <a:rPr lang="ru-RU" dirty="0" err="1"/>
              <a:t>Support</a:t>
            </a:r>
            <a:r>
              <a:rPr lang="ru-RU" dirty="0"/>
              <a:t> – непрерывная информационная поддержка жизненного цикла продукта – это стратегия систематического повышения эффективности, производительности и рентабельности процессов хозяйственной деятельности предприятия в результате внедрения современных методов информационного взаимодействия участников жизненного цикла продукта). </a:t>
            </a:r>
          </a:p>
        </p:txBody>
      </p:sp>
    </p:spTree>
    <p:extLst>
      <p:ext uri="{BB962C8B-B14F-4D97-AF65-F5344CB8AC3E}">
        <p14:creationId xmlns:p14="http://schemas.microsoft.com/office/powerpoint/2010/main" val="64265734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1043608" y="764704"/>
            <a:ext cx="7200800" cy="5256584"/>
          </a:xfrm>
        </p:spPr>
        <p:txBody>
          <a:bodyPr>
            <a:normAutofit fontScale="77500" lnSpcReduction="20000"/>
          </a:bodyPr>
          <a:lstStyle/>
          <a:p>
            <a:r>
              <a:rPr lang="ru-RU" dirty="0"/>
              <a:t>Основные прикладные средства поддержки CALS-технологий включают в себя программные </a:t>
            </a:r>
            <a:r>
              <a:rPr lang="ru-RU" dirty="0" smtClean="0"/>
              <a:t>решения </a:t>
            </a:r>
            <a:r>
              <a:rPr lang="ru-RU" dirty="0"/>
              <a:t>для</a:t>
            </a:r>
            <a:r>
              <a:rPr lang="ru-RU" dirty="0" smtClean="0"/>
              <a:t>:</a:t>
            </a:r>
          </a:p>
          <a:p>
            <a:r>
              <a:rPr lang="ru-RU" dirty="0" smtClean="0"/>
              <a:t>проектно-конструкторских работ –</a:t>
            </a:r>
            <a:r>
              <a:rPr lang="en-US" dirty="0" smtClean="0"/>
              <a:t> </a:t>
            </a:r>
            <a:r>
              <a:rPr lang="ru-RU" dirty="0" smtClean="0"/>
              <a:t>(САПР, визуализация технологической подготовки производства, анализа, моделирования, электронного описания продукта и т.д.)</a:t>
            </a:r>
            <a:r>
              <a:rPr lang="en-US" dirty="0" smtClean="0"/>
              <a:t>;</a:t>
            </a:r>
          </a:p>
          <a:p>
            <a:r>
              <a:rPr lang="ru-RU" dirty="0" smtClean="0"/>
              <a:t>производства </a:t>
            </a:r>
            <a:r>
              <a:rPr lang="ru-RU" dirty="0"/>
              <a:t>– средства для обеспечения функций снабжения, календарного планирования, диспетчеризации, функций планирования производственных ресурсов, числового программного управления (ЧПУ), учета хода производства, электронного обмена данными (по заказам, расчетам) и т. д.;</a:t>
            </a:r>
          </a:p>
          <a:p>
            <a:r>
              <a:rPr lang="ru-RU" dirty="0" smtClean="0"/>
              <a:t>обслуживания </a:t>
            </a:r>
            <a:r>
              <a:rPr lang="ru-RU" dirty="0"/>
              <a:t>– средства для систем обслуживания и снабжения запчастями, интерактивные электронные технические руководства (ИЭТР) и справочники, автоматизированное испытательное оборудование, которое может быть связано с ИЭТР, системы интегрированного материально-технического обеспечения и логистики;  управления данными – средства описания структуры продукта, управления данными о продукте, технологическими потоками, управления конфигурацией продукта и т. д.</a:t>
            </a:r>
          </a:p>
        </p:txBody>
      </p:sp>
    </p:spTree>
    <p:extLst>
      <p:ext uri="{BB962C8B-B14F-4D97-AF65-F5344CB8AC3E}">
        <p14:creationId xmlns:p14="http://schemas.microsoft.com/office/powerpoint/2010/main" val="174321587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1043608" y="764704"/>
            <a:ext cx="7200800" cy="5256584"/>
          </a:xfrm>
        </p:spPr>
        <p:txBody>
          <a:bodyPr>
            <a:normAutofit/>
          </a:bodyPr>
          <a:lstStyle/>
          <a:p>
            <a:r>
              <a:rPr lang="ru-RU" dirty="0"/>
              <a:t>Существенный экономический эффект от внедрения CALS достигается за счет интеграции и совместного использования электронной информации, применяемой для проектирования, производства и сопровождения продукта. </a:t>
            </a:r>
            <a:endParaRPr lang="en-US" dirty="0" smtClean="0"/>
          </a:p>
          <a:p>
            <a:r>
              <a:rPr lang="ru-RU" dirty="0"/>
              <a:t>Основной нормативной и правовой базой при реализации стратегии CALS являются стандарты</a:t>
            </a:r>
            <a:r>
              <a:rPr lang="ru-RU" dirty="0" smtClean="0"/>
              <a:t>.</a:t>
            </a:r>
            <a:r>
              <a:rPr lang="en-US" dirty="0" smtClean="0"/>
              <a:t> </a:t>
            </a:r>
            <a:r>
              <a:rPr lang="ru-RU" dirty="0"/>
              <a:t>Выбор стандартов является </a:t>
            </a:r>
            <a:r>
              <a:rPr lang="ru-RU" dirty="0" smtClean="0"/>
              <a:t>частью</a:t>
            </a:r>
            <a:r>
              <a:rPr lang="en-US" dirty="0" smtClean="0"/>
              <a:t> c</a:t>
            </a:r>
            <a:r>
              <a:rPr lang="ru-RU" dirty="0" err="1"/>
              <a:t>тратегии</a:t>
            </a:r>
            <a:r>
              <a:rPr lang="ru-RU" dirty="0"/>
              <a:t> внедрения CALS – сложного, многогранного процесса, связанного с различными аспектами деятельности предприятия.</a:t>
            </a:r>
          </a:p>
        </p:txBody>
      </p:sp>
    </p:spTree>
    <p:extLst>
      <p:ext uri="{BB962C8B-B14F-4D97-AF65-F5344CB8AC3E}">
        <p14:creationId xmlns:p14="http://schemas.microsoft.com/office/powerpoint/2010/main" val="372627160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1043608" y="764704"/>
            <a:ext cx="7272808" cy="5688632"/>
          </a:xfrm>
        </p:spPr>
        <p:txBody>
          <a:bodyPr>
            <a:normAutofit fontScale="92500" lnSpcReduction="10000"/>
          </a:bodyPr>
          <a:lstStyle/>
          <a:p>
            <a:r>
              <a:rPr lang="ru-RU" dirty="0"/>
              <a:t>Поэтому для его реализации должны существовать определенные предпосылки, а именно наличие: </a:t>
            </a:r>
            <a:endParaRPr lang="en-US" dirty="0" smtClean="0"/>
          </a:p>
          <a:p>
            <a:r>
              <a:rPr lang="ru-RU" dirty="0" smtClean="0"/>
              <a:t>нормативной </a:t>
            </a:r>
            <a:r>
              <a:rPr lang="ru-RU" dirty="0"/>
              <a:t>и методической документации разного уровня –федерального, отраслевого, корпоративного, предприятия;</a:t>
            </a:r>
          </a:p>
          <a:p>
            <a:r>
              <a:rPr lang="ru-RU" dirty="0" smtClean="0"/>
              <a:t>рынка </a:t>
            </a:r>
            <a:r>
              <a:rPr lang="ru-RU" dirty="0"/>
              <a:t>апробированных и сертифицированных решений и услуг в области CALS-технологий;</a:t>
            </a:r>
          </a:p>
          <a:p>
            <a:r>
              <a:rPr lang="ru-RU" dirty="0" smtClean="0"/>
              <a:t>системы </a:t>
            </a:r>
            <a:r>
              <a:rPr lang="ru-RU" dirty="0"/>
              <a:t>подготовки и переподготовки кадров;</a:t>
            </a:r>
          </a:p>
          <a:p>
            <a:r>
              <a:rPr lang="ru-RU" dirty="0" smtClean="0"/>
              <a:t>опыта </a:t>
            </a:r>
            <a:r>
              <a:rPr lang="ru-RU" dirty="0"/>
              <a:t>и результатов научно-исследовательских работ и пилотных проектов, направленных на изучение и разработку решений в области CALS-технологий; информационных источников (Интернет-сервер, периодические издания и т. д.), знакомящих научно-техническую общественность с существующими решениями и ведущимися работами в области CALS.</a:t>
            </a:r>
          </a:p>
        </p:txBody>
      </p:sp>
    </p:spTree>
    <p:extLst>
      <p:ext uri="{BB962C8B-B14F-4D97-AF65-F5344CB8AC3E}">
        <p14:creationId xmlns:p14="http://schemas.microsoft.com/office/powerpoint/2010/main" val="44399052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1043608" y="764704"/>
            <a:ext cx="7272808" cy="5688632"/>
          </a:xfrm>
        </p:spPr>
        <p:txBody>
          <a:bodyPr>
            <a:normAutofit fontScale="77500" lnSpcReduction="20000"/>
          </a:bodyPr>
          <a:lstStyle/>
          <a:p>
            <a:r>
              <a:rPr lang="ru-RU" dirty="0"/>
              <a:t>Применение </a:t>
            </a:r>
            <a:r>
              <a:rPr lang="en-US" dirty="0"/>
              <a:t>CALS-</a:t>
            </a:r>
            <a:r>
              <a:rPr lang="ru-RU" dirty="0"/>
              <a:t>технологий позволяет </a:t>
            </a:r>
            <a:r>
              <a:rPr lang="ru-RU" dirty="0" smtClean="0"/>
              <a:t>обеспечивать</a:t>
            </a:r>
            <a:r>
              <a:rPr lang="en-US" dirty="0" smtClean="0"/>
              <a:t> </a:t>
            </a:r>
            <a:r>
              <a:rPr lang="ru-RU" dirty="0"/>
              <a:t>повышение эффективности производства за счет: </a:t>
            </a:r>
            <a:endParaRPr lang="en-US" dirty="0" smtClean="0"/>
          </a:p>
          <a:p>
            <a:r>
              <a:rPr lang="ru-RU" dirty="0" smtClean="0"/>
              <a:t>моделирования </a:t>
            </a:r>
            <a:r>
              <a:rPr lang="ru-RU" dirty="0"/>
              <a:t>материальных, информационных и финансовых потоков, характеризующих процессы производства продукции, с целью выбора оптимального комплекса технологических процессов, обеспечивающих достижение заданных технико-экономических параметров продукции, выпуск которой планируется;</a:t>
            </a:r>
          </a:p>
          <a:p>
            <a:r>
              <a:rPr lang="ru-RU" dirty="0" smtClean="0"/>
              <a:t>интегрированной </a:t>
            </a:r>
            <a:r>
              <a:rPr lang="ru-RU" dirty="0"/>
              <a:t>информационной системы </a:t>
            </a:r>
            <a:r>
              <a:rPr lang="ru-RU" dirty="0" smtClean="0"/>
              <a:t>сопровождения</a:t>
            </a:r>
            <a:r>
              <a:rPr lang="en-US" dirty="0" smtClean="0"/>
              <a:t> </a:t>
            </a:r>
            <a:r>
              <a:rPr lang="ru-RU" dirty="0"/>
              <a:t>продукции на всех этапах ее жизненного цикла, </a:t>
            </a:r>
            <a:r>
              <a:rPr lang="ru-RU" dirty="0" smtClean="0"/>
              <a:t>обеспечивающей</a:t>
            </a:r>
            <a:r>
              <a:rPr lang="en-US" dirty="0" smtClean="0"/>
              <a:t> </a:t>
            </a:r>
            <a:r>
              <a:rPr lang="ru-RU" dirty="0" smtClean="0"/>
              <a:t>сведение </a:t>
            </a:r>
            <a:r>
              <a:rPr lang="ru-RU" dirty="0"/>
              <a:t>к минимуму производственных издержек</a:t>
            </a:r>
            <a:r>
              <a:rPr lang="ru-RU" dirty="0" smtClean="0"/>
              <a:t>;</a:t>
            </a:r>
            <a:endParaRPr lang="en-US" dirty="0" smtClean="0"/>
          </a:p>
          <a:p>
            <a:r>
              <a:rPr lang="ru-RU" dirty="0" smtClean="0"/>
              <a:t>системы </a:t>
            </a:r>
            <a:r>
              <a:rPr lang="ru-RU" dirty="0"/>
              <a:t>информационного взаимодействия с субподрядчиками, обеспечивающей высокую эффективность процессов материально-технического снабжения;</a:t>
            </a:r>
          </a:p>
          <a:p>
            <a:r>
              <a:rPr lang="ru-RU" dirty="0" smtClean="0"/>
              <a:t>интегрированной </a:t>
            </a:r>
            <a:r>
              <a:rPr lang="ru-RU" dirty="0"/>
              <a:t>информационной системы управления качеством продукции на всех этапах ее жизненного цикла;</a:t>
            </a:r>
          </a:p>
          <a:p>
            <a:r>
              <a:rPr lang="ru-RU" dirty="0" smtClean="0"/>
              <a:t>интегрированной </a:t>
            </a:r>
            <a:r>
              <a:rPr lang="ru-RU" dirty="0"/>
              <a:t>информационной системы взаимодействия с потребителями продукции, обеспечивающей сведение к минимуму затрат на ее техническое обслуживание и ремонт. </a:t>
            </a:r>
            <a:endParaRPr lang="en-US" dirty="0" smtClean="0"/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25596245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1043608" y="764704"/>
            <a:ext cx="7272808" cy="5688632"/>
          </a:xfrm>
        </p:spPr>
        <p:txBody>
          <a:bodyPr>
            <a:normAutofit/>
          </a:bodyPr>
          <a:lstStyle/>
          <a:p>
            <a:pPr algn="ctr"/>
            <a:r>
              <a:rPr lang="ru-RU" b="1" i="1" dirty="0"/>
              <a:t>Методы контроля и диагностики качества</a:t>
            </a:r>
            <a:r>
              <a:rPr lang="ru-RU" b="1" i="1" dirty="0" smtClean="0"/>
              <a:t>.</a:t>
            </a:r>
            <a:endParaRPr lang="en-US" b="1" i="1" dirty="0" smtClean="0"/>
          </a:p>
          <a:p>
            <a:r>
              <a:rPr lang="ru-RU" b="1" dirty="0"/>
              <a:t>Параметр </a:t>
            </a:r>
            <a:r>
              <a:rPr lang="ru-RU" dirty="0"/>
              <a:t>– величина, которая численно </a:t>
            </a:r>
            <a:r>
              <a:rPr lang="ru-RU" dirty="0" smtClean="0"/>
              <a:t>характеризует</a:t>
            </a:r>
            <a:r>
              <a:rPr lang="en-US" dirty="0" smtClean="0"/>
              <a:t> </a:t>
            </a:r>
            <a:r>
              <a:rPr lang="ru-RU" dirty="0" smtClean="0"/>
              <a:t>свойство </a:t>
            </a:r>
            <a:r>
              <a:rPr lang="ru-RU" dirty="0"/>
              <a:t>ЭС. Множество параметров Y можно представить </a:t>
            </a:r>
            <a:r>
              <a:rPr lang="ru-RU" dirty="0" smtClean="0"/>
              <a:t>как</a:t>
            </a:r>
            <a:r>
              <a:rPr lang="en-US" dirty="0" smtClean="0"/>
              <a:t> </a:t>
            </a:r>
            <a:r>
              <a:rPr lang="ru-RU" dirty="0" smtClean="0"/>
              <a:t>объединение </a:t>
            </a:r>
            <a:r>
              <a:rPr lang="ru-RU" dirty="0"/>
              <a:t>подмножеств</a:t>
            </a:r>
            <a:r>
              <a:rPr lang="ru-RU" dirty="0" smtClean="0"/>
              <a:t>:</a:t>
            </a:r>
            <a:endParaRPr lang="en-US" dirty="0" smtClean="0"/>
          </a:p>
          <a:p>
            <a:endParaRPr lang="en-US" dirty="0"/>
          </a:p>
          <a:p>
            <a:endParaRPr lang="en-US" dirty="0" smtClean="0"/>
          </a:p>
          <a:p>
            <a:endParaRPr lang="en-US" dirty="0"/>
          </a:p>
          <a:p>
            <a:endParaRPr lang="en-US" dirty="0" smtClean="0"/>
          </a:p>
          <a:p>
            <a:endParaRPr lang="en-US" dirty="0"/>
          </a:p>
          <a:p>
            <a:r>
              <a:rPr lang="ru-RU" dirty="0"/>
              <a:t>Таким образом, параметры классифицируются по своей природе.</a:t>
            </a:r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29507" y="3140968"/>
            <a:ext cx="6915150" cy="18192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765537576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ъект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1475" y="1174577"/>
            <a:ext cx="8401050" cy="44481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783685552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ъект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ru-RU" dirty="0"/>
          </a:p>
        </p:txBody>
      </p:sp>
      <p:pic>
        <p:nvPicPr>
          <p:cNvPr id="6146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1520" y="908720"/>
            <a:ext cx="8515350" cy="25431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796597963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899592" y="692696"/>
            <a:ext cx="7344816" cy="5472608"/>
          </a:xfrm>
        </p:spPr>
        <p:txBody>
          <a:bodyPr>
            <a:normAutofit lnSpcReduction="10000"/>
          </a:bodyPr>
          <a:lstStyle/>
          <a:p>
            <a:r>
              <a:rPr lang="ru-RU" b="1" dirty="0"/>
              <a:t>Допуск </a:t>
            </a:r>
            <a:r>
              <a:rPr lang="ru-RU" dirty="0"/>
              <a:t>на параметр – полученное расчетом или в </a:t>
            </a:r>
            <a:r>
              <a:rPr lang="ru-RU" dirty="0" smtClean="0"/>
              <a:t>результате экспериментов </a:t>
            </a:r>
            <a:r>
              <a:rPr lang="ru-RU" dirty="0"/>
              <a:t>отклонение параметра, при котором прибор </a:t>
            </a:r>
            <a:r>
              <a:rPr lang="ru-RU" dirty="0" smtClean="0"/>
              <a:t>может </a:t>
            </a:r>
            <a:r>
              <a:rPr lang="ru-RU" dirty="0"/>
              <a:t>выполнять свои функции с заданной точностью в </a:t>
            </a:r>
            <a:r>
              <a:rPr lang="ru-RU" dirty="0" smtClean="0"/>
              <a:t>пределах установленного </a:t>
            </a:r>
            <a:r>
              <a:rPr lang="ru-RU" dirty="0"/>
              <a:t>времени и в условиях влияния </a:t>
            </a:r>
            <a:r>
              <a:rPr lang="ru-RU" dirty="0" smtClean="0"/>
              <a:t>окружающей </a:t>
            </a:r>
            <a:r>
              <a:rPr lang="ru-RU" dirty="0"/>
              <a:t>среды</a:t>
            </a:r>
            <a:r>
              <a:rPr lang="ru-RU" dirty="0" smtClean="0"/>
              <a:t>.</a:t>
            </a:r>
          </a:p>
          <a:p>
            <a:r>
              <a:rPr lang="ru-RU" dirty="0"/>
              <a:t>Отклонение параметров ведет к снижению точности, стоимости, надежности ЭС. С другой стороны, уровень отклонения параметров определяет стоимость прибора: чем больше точность, с которой может измерять прибор, тем больше его стоимость. </a:t>
            </a:r>
          </a:p>
          <a:p>
            <a:r>
              <a:rPr lang="ru-RU" dirty="0"/>
              <a:t>Анализ заключается в определении величин отклонения параметров элементов и всего аппарата. </a:t>
            </a:r>
          </a:p>
        </p:txBody>
      </p:sp>
    </p:spTree>
    <p:extLst>
      <p:ext uri="{BB962C8B-B14F-4D97-AF65-F5344CB8AC3E}">
        <p14:creationId xmlns:p14="http://schemas.microsoft.com/office/powerpoint/2010/main" val="4099877760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899592" y="692696"/>
            <a:ext cx="7344816" cy="5472608"/>
          </a:xfrm>
        </p:spPr>
        <p:txBody>
          <a:bodyPr>
            <a:normAutofit/>
          </a:bodyPr>
          <a:lstStyle/>
          <a:p>
            <a:r>
              <a:rPr lang="ru-RU" dirty="0"/>
              <a:t>Методы анализа отклонения параметра делятся на: </a:t>
            </a:r>
            <a:endParaRPr lang="ru-RU" dirty="0" smtClean="0"/>
          </a:p>
          <a:p>
            <a:r>
              <a:rPr lang="ru-RU" dirty="0" smtClean="0"/>
              <a:t>статистические</a:t>
            </a:r>
            <a:r>
              <a:rPr lang="ru-RU" dirty="0"/>
              <a:t>;</a:t>
            </a:r>
          </a:p>
          <a:p>
            <a:r>
              <a:rPr lang="ru-RU" dirty="0" smtClean="0"/>
              <a:t>корреляционные</a:t>
            </a:r>
            <a:r>
              <a:rPr lang="ru-RU" dirty="0"/>
              <a:t>;</a:t>
            </a:r>
          </a:p>
          <a:p>
            <a:r>
              <a:rPr lang="ru-RU" dirty="0" smtClean="0"/>
              <a:t>расчетно-аналитические.</a:t>
            </a:r>
          </a:p>
          <a:p>
            <a:r>
              <a:rPr lang="ru-RU" dirty="0"/>
              <a:t>Достоинства статистического и корреляционного методов: </a:t>
            </a:r>
            <a:endParaRPr lang="ru-RU" dirty="0" smtClean="0"/>
          </a:p>
          <a:p>
            <a:pPr lvl="1"/>
            <a:r>
              <a:rPr lang="ru-RU" dirty="0" smtClean="0"/>
              <a:t>дают </a:t>
            </a:r>
            <a:r>
              <a:rPr lang="ru-RU" dirty="0"/>
              <a:t>точный результат. </a:t>
            </a:r>
            <a:endParaRPr lang="ru-RU" dirty="0" smtClean="0"/>
          </a:p>
          <a:p>
            <a:r>
              <a:rPr lang="ru-RU" dirty="0" smtClean="0"/>
              <a:t>Недостатки </a:t>
            </a:r>
            <a:r>
              <a:rPr lang="ru-RU" dirty="0"/>
              <a:t>статистического и корреляционного методов:  </a:t>
            </a:r>
            <a:endParaRPr lang="ru-RU" dirty="0" smtClean="0"/>
          </a:p>
          <a:p>
            <a:pPr lvl="1"/>
            <a:r>
              <a:rPr lang="ru-RU" dirty="0" smtClean="0"/>
              <a:t>трудоемкость</a:t>
            </a:r>
            <a:r>
              <a:rPr lang="ru-RU" dirty="0"/>
              <a:t>;</a:t>
            </a:r>
          </a:p>
          <a:p>
            <a:pPr lvl="1"/>
            <a:r>
              <a:rPr lang="ru-RU" dirty="0" smtClean="0"/>
              <a:t>их </a:t>
            </a:r>
            <a:r>
              <a:rPr lang="ru-RU" dirty="0"/>
              <a:t>нельзя использовать при разработке новой техники.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315883472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899592" y="692696"/>
            <a:ext cx="7344816" cy="5472608"/>
          </a:xfrm>
        </p:spPr>
        <p:txBody>
          <a:bodyPr>
            <a:normAutofit/>
          </a:bodyPr>
          <a:lstStyle/>
          <a:p>
            <a:r>
              <a:rPr lang="ru-RU" dirty="0"/>
              <a:t>Расчетно-аналитические методы основаны на </a:t>
            </a:r>
            <a:r>
              <a:rPr lang="ru-RU" dirty="0" smtClean="0"/>
              <a:t>выявлении аналитическим </a:t>
            </a:r>
            <a:r>
              <a:rPr lang="ru-RU" dirty="0"/>
              <a:t>или экспериментальным путем зависимости между отклонением исследуемого параметра и отклонением других параметров, от которых зависит исследуемый: </a:t>
            </a:r>
          </a:p>
        </p:txBody>
      </p:sp>
      <p:pic>
        <p:nvPicPr>
          <p:cNvPr id="717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91593" y="3573016"/>
            <a:ext cx="5619750" cy="1352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4159047169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899592" y="692696"/>
            <a:ext cx="7344816" cy="5472608"/>
          </a:xfrm>
        </p:spPr>
        <p:txBody>
          <a:bodyPr>
            <a:normAutofit/>
          </a:bodyPr>
          <a:lstStyle/>
          <a:p>
            <a:r>
              <a:rPr lang="ru-RU" dirty="0"/>
              <a:t>Расчетно-аналитические методы делятся на: </a:t>
            </a:r>
            <a:endParaRPr lang="ru-RU" dirty="0" smtClean="0"/>
          </a:p>
          <a:p>
            <a:pPr lvl="1"/>
            <a:r>
              <a:rPr lang="ru-RU" dirty="0" smtClean="0"/>
              <a:t>метод </a:t>
            </a:r>
            <a:r>
              <a:rPr lang="ru-RU" dirty="0"/>
              <a:t>предельных отклонений;</a:t>
            </a:r>
          </a:p>
          <a:p>
            <a:pPr lvl="1"/>
            <a:r>
              <a:rPr lang="ru-RU" dirty="0" smtClean="0"/>
              <a:t>метод </a:t>
            </a:r>
            <a:r>
              <a:rPr lang="ru-RU" dirty="0" err="1"/>
              <a:t>квадратического</a:t>
            </a:r>
            <a:r>
              <a:rPr lang="ru-RU" dirty="0"/>
              <a:t> сложения;</a:t>
            </a:r>
          </a:p>
          <a:p>
            <a:pPr lvl="1"/>
            <a:r>
              <a:rPr lang="ru-RU" dirty="0" smtClean="0"/>
              <a:t>вероятностный </a:t>
            </a:r>
            <a:r>
              <a:rPr lang="ru-RU" dirty="0"/>
              <a:t>метод</a:t>
            </a:r>
            <a:r>
              <a:rPr lang="ru-RU" dirty="0" smtClean="0"/>
              <a:t>.</a:t>
            </a:r>
          </a:p>
          <a:p>
            <a:r>
              <a:rPr lang="ru-RU" dirty="0" smtClean="0"/>
              <a:t>Рассмотрим </a:t>
            </a:r>
            <a:r>
              <a:rPr lang="ru-RU" dirty="0"/>
              <a:t>каждый из них по отдельности</a:t>
            </a:r>
            <a:r>
              <a:rPr lang="ru-RU" dirty="0" smtClean="0"/>
              <a:t>.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433548322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899592" y="692696"/>
            <a:ext cx="7344816" cy="5472608"/>
          </a:xfrm>
        </p:spPr>
        <p:txBody>
          <a:bodyPr>
            <a:normAutofit/>
          </a:bodyPr>
          <a:lstStyle/>
          <a:p>
            <a:r>
              <a:rPr lang="ru-RU" dirty="0"/>
              <a:t>Метод предельных отклонений</a:t>
            </a:r>
          </a:p>
          <a:p>
            <a:r>
              <a:rPr lang="ru-RU" dirty="0"/>
              <a:t>Основан на оценке наихудшего сочетания отклонений отдельных параметров.  </a:t>
            </a:r>
          </a:p>
          <a:p>
            <a:r>
              <a:rPr lang="ru-RU" dirty="0"/>
              <a:t>Преимущество метода – простота.  </a:t>
            </a:r>
            <a:endParaRPr lang="ru-RU" dirty="0" smtClean="0"/>
          </a:p>
          <a:p>
            <a:r>
              <a:rPr lang="ru-RU" dirty="0" smtClean="0"/>
              <a:t>Недостаток</a:t>
            </a:r>
            <a:r>
              <a:rPr lang="ru-RU" dirty="0"/>
              <a:t>: дает очень приближенные результаты. </a:t>
            </a:r>
            <a:endParaRPr lang="ru-RU" dirty="0" smtClean="0"/>
          </a:p>
          <a:p>
            <a:r>
              <a:rPr lang="ru-RU" dirty="0" smtClean="0"/>
              <a:t>Завышение </a:t>
            </a:r>
            <a:r>
              <a:rPr lang="ru-RU" dirty="0"/>
              <a:t>от двух до десяти раз происходит за счет того, что рассматриваются предельные отклонения параметров. </a:t>
            </a:r>
          </a:p>
          <a:p>
            <a:r>
              <a:rPr lang="ru-RU" dirty="0"/>
              <a:t>Вывод формулы для расчета отклонения параметров для метода предельных отклонений выглядит следующим образом. </a:t>
            </a:r>
          </a:p>
        </p:txBody>
      </p:sp>
    </p:spTree>
    <p:extLst>
      <p:ext uri="{BB962C8B-B14F-4D97-AF65-F5344CB8AC3E}">
        <p14:creationId xmlns:p14="http://schemas.microsoft.com/office/powerpoint/2010/main" val="1937737977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ъект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819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9512" y="623888"/>
            <a:ext cx="8343900" cy="56102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984372035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ъект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921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504" y="692696"/>
            <a:ext cx="8429625" cy="57054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49071367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ъект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1024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1000" y="523875"/>
            <a:ext cx="8382000" cy="5810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4210948764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ъект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10242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1000" y="523875"/>
            <a:ext cx="8382000" cy="5810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265990704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899592" y="692696"/>
            <a:ext cx="7344816" cy="5472608"/>
          </a:xfrm>
        </p:spPr>
        <p:txBody>
          <a:bodyPr>
            <a:normAutofit/>
          </a:bodyPr>
          <a:lstStyle/>
          <a:p>
            <a:r>
              <a:rPr lang="ru-RU" dirty="0"/>
              <a:t>Метод </a:t>
            </a:r>
            <a:r>
              <a:rPr lang="ru-RU" dirty="0" err="1"/>
              <a:t>квадратического</a:t>
            </a:r>
            <a:r>
              <a:rPr lang="ru-RU" dirty="0"/>
              <a:t> </a:t>
            </a:r>
            <a:r>
              <a:rPr lang="ru-RU" dirty="0" smtClean="0"/>
              <a:t>сложения</a:t>
            </a:r>
          </a:p>
          <a:p>
            <a:r>
              <a:rPr lang="ru-RU" dirty="0"/>
              <a:t>Преимущества метода: простота, точность выше, чем у </a:t>
            </a:r>
            <a:r>
              <a:rPr lang="ru-RU" dirty="0" smtClean="0"/>
              <a:t>метода предельных </a:t>
            </a:r>
            <a:r>
              <a:rPr lang="ru-RU" dirty="0"/>
              <a:t>отклонений. Недостатки: малая точность (отличие от </a:t>
            </a:r>
            <a:r>
              <a:rPr lang="ru-RU" dirty="0" smtClean="0"/>
              <a:t>1,5 до </a:t>
            </a:r>
            <a:r>
              <a:rPr lang="ru-RU" dirty="0"/>
              <a:t>4 раз из-за оперирования предельными отклонениями).</a:t>
            </a:r>
          </a:p>
          <a:p>
            <a:r>
              <a:rPr lang="ru-RU" dirty="0"/>
              <a:t>Основан на соотношении:</a:t>
            </a:r>
          </a:p>
        </p:txBody>
      </p:sp>
      <p:pic>
        <p:nvPicPr>
          <p:cNvPr id="1126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5325" y="4005064"/>
            <a:ext cx="7753350" cy="8096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184545772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899592" y="692696"/>
            <a:ext cx="7344816" cy="5472608"/>
          </a:xfrm>
        </p:spPr>
        <p:txBody>
          <a:bodyPr>
            <a:normAutofit fontScale="92500"/>
          </a:bodyPr>
          <a:lstStyle/>
          <a:p>
            <a:r>
              <a:rPr lang="ru-RU" dirty="0"/>
              <a:t>Вероятностный </a:t>
            </a:r>
            <a:r>
              <a:rPr lang="ru-RU" dirty="0" smtClean="0"/>
              <a:t>метод</a:t>
            </a:r>
          </a:p>
          <a:p>
            <a:r>
              <a:rPr lang="ru-RU" dirty="0"/>
              <a:t>Все параметры в этом методе учитываются как случайные величины. Принимается, что: </a:t>
            </a:r>
            <a:endParaRPr lang="ru-RU" dirty="0" smtClean="0"/>
          </a:p>
          <a:p>
            <a:pPr lvl="1"/>
            <a:r>
              <a:rPr lang="ru-RU" dirty="0" smtClean="0"/>
              <a:t>число </a:t>
            </a:r>
            <a:r>
              <a:rPr lang="ru-RU" dirty="0"/>
              <a:t>случайных воздействий и отклонения неизменны во времени;</a:t>
            </a:r>
          </a:p>
          <a:p>
            <a:pPr lvl="1"/>
            <a:r>
              <a:rPr lang="ru-RU" dirty="0" smtClean="0"/>
              <a:t>среди </a:t>
            </a:r>
            <a:r>
              <a:rPr lang="ru-RU" dirty="0"/>
              <a:t>отклонений нет доминирующих;</a:t>
            </a:r>
          </a:p>
          <a:p>
            <a:pPr lvl="1"/>
            <a:r>
              <a:rPr lang="ru-RU" dirty="0" smtClean="0"/>
              <a:t>все </a:t>
            </a:r>
            <a:r>
              <a:rPr lang="ru-RU" dirty="0"/>
              <a:t>случайные воздействия взаимно независимы;</a:t>
            </a:r>
          </a:p>
          <a:p>
            <a:pPr lvl="1"/>
            <a:r>
              <a:rPr lang="ru-RU" dirty="0" smtClean="0"/>
              <a:t>все </a:t>
            </a:r>
            <a:r>
              <a:rPr lang="ru-RU" dirty="0"/>
              <a:t>случайные величины подчинены закону нормального распределения: сумма случайных величин распределена асимптотически нормально</a:t>
            </a:r>
            <a:r>
              <a:rPr lang="ru-RU" dirty="0" smtClean="0"/>
              <a:t>.</a:t>
            </a:r>
          </a:p>
          <a:p>
            <a:r>
              <a:rPr lang="ru-RU" dirty="0"/>
              <a:t>Преимущества вероятностного метода: </a:t>
            </a:r>
            <a:endParaRPr lang="ru-RU" dirty="0" smtClean="0"/>
          </a:p>
          <a:p>
            <a:r>
              <a:rPr lang="ru-RU" dirty="0" smtClean="0"/>
              <a:t>дает </a:t>
            </a:r>
            <a:r>
              <a:rPr lang="ru-RU" dirty="0"/>
              <a:t>результаты точнее, чем предыдущие два метода за счет того, что учитывается случайный характер отклонения параметров и случайный характер сочетания отклонений этих параметров. </a:t>
            </a:r>
          </a:p>
        </p:txBody>
      </p:sp>
    </p:spTree>
    <p:extLst>
      <p:ext uri="{BB962C8B-B14F-4D97-AF65-F5344CB8AC3E}">
        <p14:creationId xmlns:p14="http://schemas.microsoft.com/office/powerpoint/2010/main" val="2710282110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899592" y="692696"/>
            <a:ext cx="7344816" cy="5472608"/>
          </a:xfrm>
        </p:spPr>
        <p:txBody>
          <a:bodyPr>
            <a:normAutofit/>
          </a:bodyPr>
          <a:lstStyle/>
          <a:p>
            <a:endParaRPr lang="ru-RU" dirty="0"/>
          </a:p>
        </p:txBody>
      </p:sp>
      <p:pic>
        <p:nvPicPr>
          <p:cNvPr id="1229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33463" y="738188"/>
            <a:ext cx="7077075" cy="53816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935585102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899592" y="692696"/>
            <a:ext cx="7344816" cy="5472608"/>
          </a:xfrm>
        </p:spPr>
        <p:txBody>
          <a:bodyPr>
            <a:normAutofit/>
          </a:bodyPr>
          <a:lstStyle/>
          <a:p>
            <a:endParaRPr lang="ru-RU" dirty="0"/>
          </a:p>
        </p:txBody>
      </p:sp>
      <p:pic>
        <p:nvPicPr>
          <p:cNvPr id="1331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33450" y="857250"/>
            <a:ext cx="7277100" cy="51435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621959798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ru-RU" dirty="0"/>
          </a:p>
        </p:txBody>
      </p:sp>
      <p:pic>
        <p:nvPicPr>
          <p:cNvPr id="1433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1938" y="557213"/>
            <a:ext cx="8620125" cy="57435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679191471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Кнопка">
  <a:themeElements>
    <a:clrScheme name="Кнопка">
      <a:dk1>
        <a:sysClr val="windowText" lastClr="000000"/>
      </a:dk1>
      <a:lt1>
        <a:sysClr val="window" lastClr="FFFFFF"/>
      </a:lt1>
      <a:dk2>
        <a:srgbClr val="465E9C"/>
      </a:dk2>
      <a:lt2>
        <a:srgbClr val="CCDDEA"/>
      </a:lt2>
      <a:accent1>
        <a:srgbClr val="FDA023"/>
      </a:accent1>
      <a:accent2>
        <a:srgbClr val="AA2B1E"/>
      </a:accent2>
      <a:accent3>
        <a:srgbClr val="71685C"/>
      </a:accent3>
      <a:accent4>
        <a:srgbClr val="64A73B"/>
      </a:accent4>
      <a:accent5>
        <a:srgbClr val="EB5605"/>
      </a:accent5>
      <a:accent6>
        <a:srgbClr val="B9CA1A"/>
      </a:accent6>
      <a:hlink>
        <a:srgbClr val="D83E2C"/>
      </a:hlink>
      <a:folHlink>
        <a:srgbClr val="ED7D27"/>
      </a:folHlink>
    </a:clrScheme>
    <a:fontScheme name="Кнопка">
      <a:majorFont>
        <a:latin typeface="Constantia"/>
        <a:ea typeface=""/>
        <a:cs typeface=""/>
        <a:font script="Jpan" typeface="HGS明朝E"/>
        <a:font script="Hang" typeface="HY신명조"/>
        <a:font script="Hans" typeface="宋体"/>
        <a:font script="Hant" typeface="新細明體"/>
        <a:font script="Arab" typeface="Majalla UI"/>
        <a:font script="Hebr" typeface="David"/>
        <a:font script="Thai" typeface="Browalli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Franklin Gothic Book"/>
        <a:ea typeface=""/>
        <a:cs typeface=""/>
        <a:font script="Grek" typeface="Arial"/>
        <a:font script="Cyrl" typeface="Arial"/>
        <a:font script="Jpan" typeface="ＭＳ Ｐゴシック"/>
        <a:font script="Hang" typeface="맑은 고딕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Кнопка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180000"/>
                <a:lumMod val="100000"/>
              </a:schemeClr>
            </a:gs>
            <a:gs pos="40000">
              <a:schemeClr val="phClr">
                <a:tint val="60000"/>
                <a:satMod val="130000"/>
                <a:lumMod val="100000"/>
              </a:schemeClr>
            </a:gs>
            <a:gs pos="100000">
              <a:schemeClr val="phClr">
                <a:tint val="96000"/>
                <a:lumMod val="108000"/>
              </a:schemeClr>
            </a:gs>
          </a:gsLst>
          <a:lin ang="5400000" scaled="0"/>
        </a:gradFill>
        <a:gradFill rotWithShape="1">
          <a:gsLst>
            <a:gs pos="0">
              <a:schemeClr val="phClr"/>
            </a:gs>
            <a:gs pos="100000">
              <a:schemeClr val="phClr">
                <a:shade val="76000"/>
                <a:lumMod val="9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>
              <a:shade val="80000"/>
              <a:lumMod val="90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38100" dir="4800000" sx="98000" sy="98000" rotWithShape="0">
              <a:srgbClr val="000000">
                <a:alpha val="32000"/>
              </a:srgbClr>
            </a:outerShdw>
          </a:effectLst>
        </a:effectStyle>
        <a:effectStyle>
          <a:effectLst>
            <a:outerShdw blurRad="38100" dist="38100" dir="4800000" sx="96000" sy="96000" rotWithShape="0">
              <a:srgbClr val="000000">
                <a:alpha val="4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3240000"/>
            </a:lightRig>
          </a:scene3d>
          <a:sp3d>
            <a:bevelT w="28575" h="28575"/>
          </a:sp3d>
        </a:effectStyle>
      </a:effectStyleLst>
      <a:bgFillStyleLst>
        <a:solidFill>
          <a:schemeClr val="phClr">
            <a:tint val="93000"/>
          </a:schemeClr>
        </a:solidFill>
        <a:blipFill rotWithShape="1">
          <a:blip xmlns:r="http://schemas.openxmlformats.org/officeDocument/2006/relationships" r:embed="rId1">
            <a:duotone>
              <a:schemeClr val="phClr">
                <a:shade val="80000"/>
                <a:satMod val="140000"/>
                <a:lumMod val="50000"/>
              </a:schemeClr>
              <a:schemeClr val="phClr">
                <a:tint val="95000"/>
                <a:satMod val="180000"/>
                <a:lumMod val="160000"/>
              </a:schemeClr>
            </a:duotone>
          </a:blip>
          <a:stretch/>
        </a:blipFill>
        <a:blipFill rotWithShape="1">
          <a:blip xmlns:r="http://schemas.openxmlformats.org/officeDocument/2006/relationships" r:embed="rId2">
            <a:duotone>
              <a:schemeClr val="phClr">
                <a:tint val="98000"/>
                <a:shade val="90000"/>
                <a:satMod val="120000"/>
                <a:lumMod val="54000"/>
              </a:schemeClr>
              <a:schemeClr val="phClr">
                <a:tint val="80000"/>
                <a:satMod val="160000"/>
                <a:lumMod val="140000"/>
              </a:schemeClr>
            </a:duotone>
          </a:blip>
          <a:stretch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Стандартная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Pushpin</Template>
  <TotalTime>236</TotalTime>
  <Words>2359</Words>
  <Application>Microsoft Office PowerPoint</Application>
  <PresentationFormat>Экран (4:3)</PresentationFormat>
  <Paragraphs>173</Paragraphs>
  <Slides>39</Slides>
  <Notes>16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6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39</vt:i4>
      </vt:variant>
    </vt:vector>
  </HeadingPairs>
  <TitlesOfParts>
    <vt:vector size="46" baseType="lpstr">
      <vt:lpstr>Arial</vt:lpstr>
      <vt:lpstr>Brush Script MT</vt:lpstr>
      <vt:lpstr>Calibri</vt:lpstr>
      <vt:lpstr>Constantia</vt:lpstr>
      <vt:lpstr>Franklin Gothic Book</vt:lpstr>
      <vt:lpstr>Rage Italic</vt:lpstr>
      <vt:lpstr>Кнопка</vt:lpstr>
      <vt:lpstr>Основы управления качеством электронных средств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Введение в системы реального времени</dc:title>
  <dc:creator>Admin</dc:creator>
  <cp:lastModifiedBy>admin</cp:lastModifiedBy>
  <cp:revision>22</cp:revision>
  <dcterms:created xsi:type="dcterms:W3CDTF">2021-09-05T20:07:36Z</dcterms:created>
  <dcterms:modified xsi:type="dcterms:W3CDTF">2023-01-31T09:16:41Z</dcterms:modified>
</cp:coreProperties>
</file>